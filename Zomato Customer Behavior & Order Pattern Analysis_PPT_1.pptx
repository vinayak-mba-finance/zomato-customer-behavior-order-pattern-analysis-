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B8B49ED-6693-497D-8823-F50F891E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DCD3BD4-4F32-431E-A9C3-8D2DA60C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36AAC24-A98C-465E-AFEE-69D698E7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9149158 w 12192000"/>
              <a:gd name="connsiteY0" fmla="*/ 2038490 h 6858000"/>
              <a:gd name="connsiteX1" fmla="*/ 9164184 w 12192000"/>
              <a:gd name="connsiteY1" fmla="*/ 2044026 h 6858000"/>
              <a:gd name="connsiteX2" fmla="*/ 9172532 w 12192000"/>
              <a:gd name="connsiteY2" fmla="*/ 2045543 h 6858000"/>
              <a:gd name="connsiteX3" fmla="*/ 9171580 w 12192000"/>
              <a:gd name="connsiteY3" fmla="*/ 2056997 h 6858000"/>
              <a:gd name="connsiteX4" fmla="*/ 9161257 w 12192000"/>
              <a:gd name="connsiteY4" fmla="*/ 2098605 h 6858000"/>
              <a:gd name="connsiteX5" fmla="*/ 9138232 w 12192000"/>
              <a:gd name="connsiteY5" fmla="*/ 2059518 h 6858000"/>
              <a:gd name="connsiteX6" fmla="*/ 9149158 w 12192000"/>
              <a:gd name="connsiteY6" fmla="*/ 2038490 h 6858000"/>
              <a:gd name="connsiteX7" fmla="*/ 9177606 w 12192000"/>
              <a:gd name="connsiteY7" fmla="*/ 1977215 h 6858000"/>
              <a:gd name="connsiteX8" fmla="*/ 9181592 w 12192000"/>
              <a:gd name="connsiteY8" fmla="*/ 1987782 h 6858000"/>
              <a:gd name="connsiteX9" fmla="*/ 9181923 w 12192000"/>
              <a:gd name="connsiteY9" fmla="*/ 1998627 h 6858000"/>
              <a:gd name="connsiteX10" fmla="*/ 9182316 w 12192000"/>
              <a:gd name="connsiteY10" fmla="*/ 2031066 h 6858000"/>
              <a:gd name="connsiteX11" fmla="*/ 9182278 w 12192000"/>
              <a:gd name="connsiteY11" fmla="*/ 2047313 h 6858000"/>
              <a:gd name="connsiteX12" fmla="*/ 9172532 w 12192000"/>
              <a:gd name="connsiteY12" fmla="*/ 2045543 h 6858000"/>
              <a:gd name="connsiteX13" fmla="*/ 9173842 w 12192000"/>
              <a:gd name="connsiteY13" fmla="*/ 2029805 h 6858000"/>
              <a:gd name="connsiteX14" fmla="*/ 9177334 w 12192000"/>
              <a:gd name="connsiteY14" fmla="*/ 1979903 h 6858000"/>
              <a:gd name="connsiteX15" fmla="*/ 3696300 w 12192000"/>
              <a:gd name="connsiteY15" fmla="*/ 1578900 h 6858000"/>
              <a:gd name="connsiteX16" fmla="*/ 3738823 w 12192000"/>
              <a:gd name="connsiteY16" fmla="*/ 1596298 h 6858000"/>
              <a:gd name="connsiteX17" fmla="*/ 3714409 w 12192000"/>
              <a:gd name="connsiteY17" fmla="*/ 1593618 h 6858000"/>
              <a:gd name="connsiteX18" fmla="*/ 3693161 w 12192000"/>
              <a:gd name="connsiteY18" fmla="*/ 1582501 h 6858000"/>
              <a:gd name="connsiteX19" fmla="*/ 3696300 w 12192000"/>
              <a:gd name="connsiteY19" fmla="*/ 1578900 h 6858000"/>
              <a:gd name="connsiteX20" fmla="*/ 3918454 w 12192000"/>
              <a:gd name="connsiteY20" fmla="*/ 1175387 h 6858000"/>
              <a:gd name="connsiteX21" fmla="*/ 4173607 w 12192000"/>
              <a:gd name="connsiteY21" fmla="*/ 1280040 h 6858000"/>
              <a:gd name="connsiteX22" fmla="*/ 4170135 w 12192000"/>
              <a:gd name="connsiteY22" fmla="*/ 1283683 h 6858000"/>
              <a:gd name="connsiteX23" fmla="*/ 3918454 w 12192000"/>
              <a:gd name="connsiteY23" fmla="*/ 1175387 h 6858000"/>
              <a:gd name="connsiteX24" fmla="*/ 8109090 w 12192000"/>
              <a:gd name="connsiteY24" fmla="*/ 602108 h 6858000"/>
              <a:gd name="connsiteX25" fmla="*/ 8113034 w 12192000"/>
              <a:gd name="connsiteY25" fmla="*/ 602645 h 6858000"/>
              <a:gd name="connsiteX26" fmla="*/ 8111220 w 12192000"/>
              <a:gd name="connsiteY26" fmla="*/ 603405 h 6858000"/>
              <a:gd name="connsiteX27" fmla="*/ 8489536 w 12192000"/>
              <a:gd name="connsiteY27" fmla="*/ 389280 h 6858000"/>
              <a:gd name="connsiteX28" fmla="*/ 8470194 w 12192000"/>
              <a:gd name="connsiteY28" fmla="*/ 397527 h 6858000"/>
              <a:gd name="connsiteX29" fmla="*/ 8373511 w 12192000"/>
              <a:gd name="connsiteY29" fmla="*/ 465608 h 6858000"/>
              <a:gd name="connsiteX30" fmla="*/ 8231753 w 12192000"/>
              <a:gd name="connsiteY30" fmla="*/ 560890 h 6858000"/>
              <a:gd name="connsiteX31" fmla="*/ 8199967 w 12192000"/>
              <a:gd name="connsiteY31" fmla="*/ 553465 h 6858000"/>
              <a:gd name="connsiteX32" fmla="*/ 8175616 w 12192000"/>
              <a:gd name="connsiteY32" fmla="*/ 546483 h 6858000"/>
              <a:gd name="connsiteX33" fmla="*/ 8128578 w 12192000"/>
              <a:gd name="connsiteY33" fmla="*/ 563992 h 6858000"/>
              <a:gd name="connsiteX34" fmla="*/ 8104845 w 12192000"/>
              <a:gd name="connsiteY34" fmla="*/ 593172 h 6858000"/>
              <a:gd name="connsiteX35" fmla="*/ 8105615 w 12192000"/>
              <a:gd name="connsiteY35" fmla="*/ 599991 h 6858000"/>
              <a:gd name="connsiteX36" fmla="*/ 8109090 w 12192000"/>
              <a:gd name="connsiteY36" fmla="*/ 602108 h 6858000"/>
              <a:gd name="connsiteX37" fmla="*/ 8092049 w 12192000"/>
              <a:gd name="connsiteY37" fmla="*/ 599788 h 6858000"/>
              <a:gd name="connsiteX38" fmla="*/ 8047646 w 12192000"/>
              <a:gd name="connsiteY38" fmla="*/ 588557 h 6858000"/>
              <a:gd name="connsiteX39" fmla="*/ 7793637 w 12192000"/>
              <a:gd name="connsiteY39" fmla="*/ 681868 h 6858000"/>
              <a:gd name="connsiteX40" fmla="*/ 6007741 w 12192000"/>
              <a:gd name="connsiteY40" fmla="*/ 1095470 h 6858000"/>
              <a:gd name="connsiteX41" fmla="*/ 5902533 w 12192000"/>
              <a:gd name="connsiteY41" fmla="*/ 1103650 h 6858000"/>
              <a:gd name="connsiteX42" fmla="*/ 5164222 w 12192000"/>
              <a:gd name="connsiteY42" fmla="*/ 1163546 h 6858000"/>
              <a:gd name="connsiteX43" fmla="*/ 4395075 w 12192000"/>
              <a:gd name="connsiteY43" fmla="*/ 1082763 h 6858000"/>
              <a:gd name="connsiteX44" fmla="*/ 3939440 w 12192000"/>
              <a:gd name="connsiteY44" fmla="*/ 891265 h 6858000"/>
              <a:gd name="connsiteX45" fmla="*/ 3747894 w 12192000"/>
              <a:gd name="connsiteY45" fmla="*/ 801994 h 6858000"/>
              <a:gd name="connsiteX46" fmla="*/ 3569553 w 12192000"/>
              <a:gd name="connsiteY46" fmla="*/ 697970 h 6858000"/>
              <a:gd name="connsiteX47" fmla="*/ 3507813 w 12192000"/>
              <a:gd name="connsiteY47" fmla="*/ 680216 h 6858000"/>
              <a:gd name="connsiteX48" fmla="*/ 3490455 w 12192000"/>
              <a:gd name="connsiteY48" fmla="*/ 682587 h 6858000"/>
              <a:gd name="connsiteX49" fmla="*/ 3477246 w 12192000"/>
              <a:gd name="connsiteY49" fmla="*/ 691971 h 6858000"/>
              <a:gd name="connsiteX50" fmla="*/ 3484273 w 12192000"/>
              <a:gd name="connsiteY50" fmla="*/ 701857 h 6858000"/>
              <a:gd name="connsiteX51" fmla="*/ 3495638 w 12192000"/>
              <a:gd name="connsiteY51" fmla="*/ 705849 h 6858000"/>
              <a:gd name="connsiteX52" fmla="*/ 3548914 w 12192000"/>
              <a:gd name="connsiteY52" fmla="*/ 733487 h 6858000"/>
              <a:gd name="connsiteX53" fmla="*/ 3551504 w 12192000"/>
              <a:gd name="connsiteY53" fmla="*/ 753036 h 6858000"/>
              <a:gd name="connsiteX54" fmla="*/ 3562075 w 12192000"/>
              <a:gd name="connsiteY54" fmla="*/ 765715 h 6858000"/>
              <a:gd name="connsiteX55" fmla="*/ 3605942 w 12192000"/>
              <a:gd name="connsiteY55" fmla="*/ 772481 h 6858000"/>
              <a:gd name="connsiteX56" fmla="*/ 3499309 w 12192000"/>
              <a:gd name="connsiteY56" fmla="*/ 737079 h 6858000"/>
              <a:gd name="connsiteX57" fmla="*/ 3473788 w 12192000"/>
              <a:gd name="connsiteY57" fmla="*/ 711717 h 6858000"/>
              <a:gd name="connsiteX58" fmla="*/ 3437248 w 12192000"/>
              <a:gd name="connsiteY58" fmla="*/ 714263 h 6858000"/>
              <a:gd name="connsiteX59" fmla="*/ 3413254 w 12192000"/>
              <a:gd name="connsiteY59" fmla="*/ 712874 h 6858000"/>
              <a:gd name="connsiteX60" fmla="*/ 3362511 w 12192000"/>
              <a:gd name="connsiteY60" fmla="*/ 677414 h 6858000"/>
              <a:gd name="connsiteX61" fmla="*/ 3344467 w 12192000"/>
              <a:gd name="connsiteY61" fmla="*/ 679599 h 6858000"/>
              <a:gd name="connsiteX62" fmla="*/ 3347971 w 12192000"/>
              <a:gd name="connsiteY62" fmla="*/ 692328 h 6858000"/>
              <a:gd name="connsiteX63" fmla="*/ 3363008 w 12192000"/>
              <a:gd name="connsiteY63" fmla="*/ 711713 h 6858000"/>
              <a:gd name="connsiteX64" fmla="*/ 3362637 w 12192000"/>
              <a:gd name="connsiteY64" fmla="*/ 727058 h 6858000"/>
              <a:gd name="connsiteX65" fmla="*/ 3376167 w 12192000"/>
              <a:gd name="connsiteY65" fmla="*/ 759779 h 6858000"/>
              <a:gd name="connsiteX66" fmla="*/ 3406203 w 12192000"/>
              <a:gd name="connsiteY66" fmla="*/ 808483 h 6858000"/>
              <a:gd name="connsiteX67" fmla="*/ 3420116 w 12192000"/>
              <a:gd name="connsiteY67" fmla="*/ 820757 h 6858000"/>
              <a:gd name="connsiteX68" fmla="*/ 3429194 w 12192000"/>
              <a:gd name="connsiteY68" fmla="*/ 825831 h 6858000"/>
              <a:gd name="connsiteX69" fmla="*/ 3619149 w 12192000"/>
              <a:gd name="connsiteY69" fmla="*/ 1006561 h 6858000"/>
              <a:gd name="connsiteX70" fmla="*/ 3818654 w 12192000"/>
              <a:gd name="connsiteY70" fmla="*/ 1120369 h 6858000"/>
              <a:gd name="connsiteX71" fmla="*/ 3824021 w 12192000"/>
              <a:gd name="connsiteY71" fmla="*/ 1125355 h 6858000"/>
              <a:gd name="connsiteX72" fmla="*/ 3736668 w 12192000"/>
              <a:gd name="connsiteY72" fmla="*/ 1107215 h 6858000"/>
              <a:gd name="connsiteX73" fmla="*/ 3540174 w 12192000"/>
              <a:gd name="connsiteY73" fmla="*/ 1014247 h 6858000"/>
              <a:gd name="connsiteX74" fmla="*/ 3421640 w 12192000"/>
              <a:gd name="connsiteY74" fmla="*/ 955861 h 6858000"/>
              <a:gd name="connsiteX75" fmla="*/ 3404753 w 12192000"/>
              <a:gd name="connsiteY75" fmla="*/ 944484 h 6858000"/>
              <a:gd name="connsiteX76" fmla="*/ 3393138 w 12192000"/>
              <a:gd name="connsiteY76" fmla="*/ 941865 h 6858000"/>
              <a:gd name="connsiteX77" fmla="*/ 3385712 w 12192000"/>
              <a:gd name="connsiteY77" fmla="*/ 952159 h 6858000"/>
              <a:gd name="connsiteX78" fmla="*/ 3398641 w 12192000"/>
              <a:gd name="connsiteY78" fmla="*/ 986025 h 6858000"/>
              <a:gd name="connsiteX79" fmla="*/ 3489975 w 12192000"/>
              <a:gd name="connsiteY79" fmla="*/ 1045560 h 6858000"/>
              <a:gd name="connsiteX80" fmla="*/ 3617273 w 12192000"/>
              <a:gd name="connsiteY80" fmla="*/ 1114697 h 6858000"/>
              <a:gd name="connsiteX81" fmla="*/ 3623898 w 12192000"/>
              <a:gd name="connsiteY81" fmla="*/ 1123556 h 6858000"/>
              <a:gd name="connsiteX82" fmla="*/ 3552438 w 12192000"/>
              <a:gd name="connsiteY82" fmla="*/ 1090606 h 6858000"/>
              <a:gd name="connsiteX83" fmla="*/ 3482417 w 12192000"/>
              <a:gd name="connsiteY83" fmla="*/ 1059092 h 6858000"/>
              <a:gd name="connsiteX84" fmla="*/ 3463468 w 12192000"/>
              <a:gd name="connsiteY84" fmla="*/ 1057629 h 6858000"/>
              <a:gd name="connsiteX85" fmla="*/ 3459472 w 12192000"/>
              <a:gd name="connsiteY85" fmla="*/ 1074217 h 6858000"/>
              <a:gd name="connsiteX86" fmla="*/ 3494211 w 12192000"/>
              <a:gd name="connsiteY86" fmla="*/ 1112153 h 6858000"/>
              <a:gd name="connsiteX87" fmla="*/ 3663137 w 12192000"/>
              <a:gd name="connsiteY87" fmla="*/ 1205775 h 6858000"/>
              <a:gd name="connsiteX88" fmla="*/ 3748466 w 12192000"/>
              <a:gd name="connsiteY88" fmla="*/ 1260936 h 6858000"/>
              <a:gd name="connsiteX89" fmla="*/ 3753142 w 12192000"/>
              <a:gd name="connsiteY89" fmla="*/ 1276208 h 6858000"/>
              <a:gd name="connsiteX90" fmla="*/ 3791960 w 12192000"/>
              <a:gd name="connsiteY90" fmla="*/ 1298886 h 6858000"/>
              <a:gd name="connsiteX91" fmla="*/ 3816039 w 12192000"/>
              <a:gd name="connsiteY91" fmla="*/ 1301606 h 6858000"/>
              <a:gd name="connsiteX92" fmla="*/ 4094439 w 12192000"/>
              <a:gd name="connsiteY92" fmla="*/ 1448806 h 6858000"/>
              <a:gd name="connsiteX93" fmla="*/ 4222870 w 12192000"/>
              <a:gd name="connsiteY93" fmla="*/ 1493379 h 6858000"/>
              <a:gd name="connsiteX94" fmla="*/ 4223141 w 12192000"/>
              <a:gd name="connsiteY94" fmla="*/ 1497641 h 6858000"/>
              <a:gd name="connsiteX95" fmla="*/ 4222428 w 12192000"/>
              <a:gd name="connsiteY95" fmla="*/ 1502292 h 6858000"/>
              <a:gd name="connsiteX96" fmla="*/ 4039973 w 12192000"/>
              <a:gd name="connsiteY96" fmla="*/ 1434198 h 6858000"/>
              <a:gd name="connsiteX97" fmla="*/ 3564773 w 12192000"/>
              <a:gd name="connsiteY97" fmla="*/ 1226279 h 6858000"/>
              <a:gd name="connsiteX98" fmla="*/ 3420650 w 12192000"/>
              <a:gd name="connsiteY98" fmla="*/ 1141464 h 6858000"/>
              <a:gd name="connsiteX99" fmla="*/ 3320669 w 12192000"/>
              <a:gd name="connsiteY99" fmla="*/ 1088883 h 6858000"/>
              <a:gd name="connsiteX100" fmla="*/ 3270102 w 12192000"/>
              <a:gd name="connsiteY100" fmla="*/ 1082659 h 6858000"/>
              <a:gd name="connsiteX101" fmla="*/ 3251648 w 12192000"/>
              <a:gd name="connsiteY101" fmla="*/ 1094290 h 6858000"/>
              <a:gd name="connsiteX102" fmla="*/ 3263506 w 12192000"/>
              <a:gd name="connsiteY102" fmla="*/ 1106005 h 6858000"/>
              <a:gd name="connsiteX103" fmla="*/ 3268636 w 12192000"/>
              <a:gd name="connsiteY103" fmla="*/ 1107265 h 6858000"/>
              <a:gd name="connsiteX104" fmla="*/ 3325089 w 12192000"/>
              <a:gd name="connsiteY104" fmla="*/ 1137201 h 6858000"/>
              <a:gd name="connsiteX105" fmla="*/ 3326003 w 12192000"/>
              <a:gd name="connsiteY105" fmla="*/ 1151585 h 6858000"/>
              <a:gd name="connsiteX106" fmla="*/ 3336410 w 12192000"/>
              <a:gd name="connsiteY106" fmla="*/ 1166967 h 6858000"/>
              <a:gd name="connsiteX107" fmla="*/ 3375112 w 12192000"/>
              <a:gd name="connsiteY107" fmla="*/ 1171943 h 6858000"/>
              <a:gd name="connsiteX108" fmla="*/ 3326222 w 12192000"/>
              <a:gd name="connsiteY108" fmla="*/ 1170885 h 6858000"/>
              <a:gd name="connsiteX109" fmla="*/ 3254679 w 12192000"/>
              <a:gd name="connsiteY109" fmla="*/ 1120765 h 6858000"/>
              <a:gd name="connsiteX110" fmla="*/ 3242188 w 12192000"/>
              <a:gd name="connsiteY110" fmla="*/ 1109662 h 6858000"/>
              <a:gd name="connsiteX111" fmla="*/ 3211499 w 12192000"/>
              <a:gd name="connsiteY111" fmla="*/ 1114184 h 6858000"/>
              <a:gd name="connsiteX112" fmla="*/ 3185849 w 12192000"/>
              <a:gd name="connsiteY112" fmla="*/ 1113265 h 6858000"/>
              <a:gd name="connsiteX113" fmla="*/ 3135843 w 12192000"/>
              <a:gd name="connsiteY113" fmla="*/ 1078789 h 6858000"/>
              <a:gd name="connsiteX114" fmla="*/ 3119118 w 12192000"/>
              <a:gd name="connsiteY114" fmla="*/ 1080546 h 6858000"/>
              <a:gd name="connsiteX115" fmla="*/ 3120198 w 12192000"/>
              <a:gd name="connsiteY115" fmla="*/ 1092226 h 6858000"/>
              <a:gd name="connsiteX116" fmla="*/ 3131691 w 12192000"/>
              <a:gd name="connsiteY116" fmla="*/ 1108819 h 6858000"/>
              <a:gd name="connsiteX117" fmla="*/ 3129914 w 12192000"/>
              <a:gd name="connsiteY117" fmla="*/ 1139097 h 6858000"/>
              <a:gd name="connsiteX118" fmla="*/ 3133955 w 12192000"/>
              <a:gd name="connsiteY118" fmla="*/ 1154983 h 6858000"/>
              <a:gd name="connsiteX119" fmla="*/ 3178170 w 12192000"/>
              <a:gd name="connsiteY119" fmla="*/ 1214855 h 6858000"/>
              <a:gd name="connsiteX120" fmla="*/ 3185378 w 12192000"/>
              <a:gd name="connsiteY120" fmla="*/ 1222303 h 6858000"/>
              <a:gd name="connsiteX121" fmla="*/ 3206608 w 12192000"/>
              <a:gd name="connsiteY121" fmla="*/ 1233153 h 6858000"/>
              <a:gd name="connsiteX122" fmla="*/ 3379140 w 12192000"/>
              <a:gd name="connsiteY122" fmla="*/ 1399351 h 6858000"/>
              <a:gd name="connsiteX123" fmla="*/ 3603118 w 12192000"/>
              <a:gd name="connsiteY123" fmla="*/ 1527375 h 6858000"/>
              <a:gd name="connsiteX124" fmla="*/ 3524809 w 12192000"/>
              <a:gd name="connsiteY124" fmla="*/ 1513774 h 6858000"/>
              <a:gd name="connsiteX125" fmla="*/ 3327498 w 12192000"/>
              <a:gd name="connsiteY125" fmla="*/ 1423859 h 6858000"/>
              <a:gd name="connsiteX126" fmla="*/ 3192949 w 12192000"/>
              <a:gd name="connsiteY126" fmla="*/ 1357211 h 6858000"/>
              <a:gd name="connsiteX127" fmla="*/ 3180259 w 12192000"/>
              <a:gd name="connsiteY127" fmla="*/ 1348280 h 6858000"/>
              <a:gd name="connsiteX128" fmla="*/ 3166204 w 12192000"/>
              <a:gd name="connsiteY128" fmla="*/ 1344345 h 6858000"/>
              <a:gd name="connsiteX129" fmla="*/ 3159212 w 12192000"/>
              <a:gd name="connsiteY129" fmla="*/ 1356197 h 6858000"/>
              <a:gd name="connsiteX130" fmla="*/ 3181004 w 12192000"/>
              <a:gd name="connsiteY130" fmla="*/ 1397043 h 6858000"/>
              <a:gd name="connsiteX131" fmla="*/ 3273385 w 12192000"/>
              <a:gd name="connsiteY131" fmla="*/ 1451888 h 6858000"/>
              <a:gd name="connsiteX132" fmla="*/ 3401776 w 12192000"/>
              <a:gd name="connsiteY132" fmla="*/ 1527602 h 6858000"/>
              <a:gd name="connsiteX133" fmla="*/ 3318130 w 12192000"/>
              <a:gd name="connsiteY133" fmla="*/ 1488342 h 6858000"/>
              <a:gd name="connsiteX134" fmla="*/ 3253694 w 12192000"/>
              <a:gd name="connsiteY134" fmla="*/ 1459909 h 6858000"/>
              <a:gd name="connsiteX135" fmla="*/ 3236182 w 12192000"/>
              <a:gd name="connsiteY135" fmla="*/ 1459882 h 6858000"/>
              <a:gd name="connsiteX136" fmla="*/ 3233020 w 12192000"/>
              <a:gd name="connsiteY136" fmla="*/ 1473687 h 6858000"/>
              <a:gd name="connsiteX137" fmla="*/ 3272474 w 12192000"/>
              <a:gd name="connsiteY137" fmla="*/ 1516958 h 6858000"/>
              <a:gd name="connsiteX138" fmla="*/ 3341300 w 12192000"/>
              <a:gd name="connsiteY138" fmla="*/ 1556133 h 6858000"/>
              <a:gd name="connsiteX139" fmla="*/ 3267359 w 12192000"/>
              <a:gd name="connsiteY139" fmla="*/ 1553009 h 6858000"/>
              <a:gd name="connsiteX140" fmla="*/ 3329832 w 12192000"/>
              <a:gd name="connsiteY140" fmla="*/ 1587586 h 6858000"/>
              <a:gd name="connsiteX141" fmla="*/ 3421490 w 12192000"/>
              <a:gd name="connsiteY141" fmla="*/ 1599301 h 6858000"/>
              <a:gd name="connsiteX142" fmla="*/ 3459923 w 12192000"/>
              <a:gd name="connsiteY142" fmla="*/ 1621220 h 6858000"/>
              <a:gd name="connsiteX143" fmla="*/ 3497490 w 12192000"/>
              <a:gd name="connsiteY143" fmla="*/ 1645392 h 6858000"/>
              <a:gd name="connsiteX144" fmla="*/ 3507803 w 12192000"/>
              <a:gd name="connsiteY144" fmla="*/ 1669911 h 6858000"/>
              <a:gd name="connsiteX145" fmla="*/ 3543290 w 12192000"/>
              <a:gd name="connsiteY145" fmla="*/ 1703729 h 6858000"/>
              <a:gd name="connsiteX146" fmla="*/ 3546999 w 12192000"/>
              <a:gd name="connsiteY146" fmla="*/ 1703818 h 6858000"/>
              <a:gd name="connsiteX147" fmla="*/ 3572295 w 12192000"/>
              <a:gd name="connsiteY147" fmla="*/ 1720349 h 6858000"/>
              <a:gd name="connsiteX148" fmla="*/ 3596922 w 12192000"/>
              <a:gd name="connsiteY148" fmla="*/ 1736961 h 6858000"/>
              <a:gd name="connsiteX149" fmla="*/ 3602119 w 12192000"/>
              <a:gd name="connsiteY149" fmla="*/ 1739285 h 6858000"/>
              <a:gd name="connsiteX150" fmla="*/ 3734798 w 12192000"/>
              <a:gd name="connsiteY150" fmla="*/ 1845349 h 6858000"/>
              <a:gd name="connsiteX151" fmla="*/ 3743174 w 12192000"/>
              <a:gd name="connsiteY151" fmla="*/ 1849972 h 6858000"/>
              <a:gd name="connsiteX152" fmla="*/ 3478101 w 12192000"/>
              <a:gd name="connsiteY152" fmla="*/ 1864630 h 6858000"/>
              <a:gd name="connsiteX153" fmla="*/ 3135293 w 12192000"/>
              <a:gd name="connsiteY153" fmla="*/ 1816496 h 6858000"/>
              <a:gd name="connsiteX154" fmla="*/ 3158510 w 12192000"/>
              <a:gd name="connsiteY154" fmla="*/ 1863880 h 6858000"/>
              <a:gd name="connsiteX155" fmla="*/ 3148907 w 12192000"/>
              <a:gd name="connsiteY155" fmla="*/ 1908797 h 6858000"/>
              <a:gd name="connsiteX156" fmla="*/ 3150229 w 12192000"/>
              <a:gd name="connsiteY156" fmla="*/ 2003660 h 6858000"/>
              <a:gd name="connsiteX157" fmla="*/ 3154219 w 12192000"/>
              <a:gd name="connsiteY157" fmla="*/ 2018746 h 6858000"/>
              <a:gd name="connsiteX158" fmla="*/ 3079313 w 12192000"/>
              <a:gd name="connsiteY158" fmla="*/ 2037482 h 6858000"/>
              <a:gd name="connsiteX159" fmla="*/ 3545961 w 12192000"/>
              <a:gd name="connsiteY159" fmla="*/ 2248584 h 6858000"/>
              <a:gd name="connsiteX160" fmla="*/ 3242382 w 12192000"/>
              <a:gd name="connsiteY160" fmla="*/ 2234890 h 6858000"/>
              <a:gd name="connsiteX161" fmla="*/ 3206852 w 12192000"/>
              <a:gd name="connsiteY161" fmla="*/ 2322137 h 6858000"/>
              <a:gd name="connsiteX162" fmla="*/ 3352854 w 12192000"/>
              <a:gd name="connsiteY162" fmla="*/ 2378270 h 6858000"/>
              <a:gd name="connsiteX163" fmla="*/ 3414532 w 12192000"/>
              <a:gd name="connsiteY163" fmla="*/ 2516826 h 6858000"/>
              <a:gd name="connsiteX164" fmla="*/ 3397577 w 12192000"/>
              <a:gd name="connsiteY164" fmla="*/ 2652556 h 6858000"/>
              <a:gd name="connsiteX165" fmla="*/ 3339773 w 12192000"/>
              <a:gd name="connsiteY165" fmla="*/ 2701969 h 6858000"/>
              <a:gd name="connsiteX166" fmla="*/ 3257041 w 12192000"/>
              <a:gd name="connsiteY166" fmla="*/ 2788223 h 6858000"/>
              <a:gd name="connsiteX167" fmla="*/ 3205892 w 12192000"/>
              <a:gd name="connsiteY167" fmla="*/ 2841661 h 6858000"/>
              <a:gd name="connsiteX168" fmla="*/ 3016267 w 12192000"/>
              <a:gd name="connsiteY168" fmla="*/ 2846107 h 6858000"/>
              <a:gd name="connsiteX169" fmla="*/ 3275450 w 12192000"/>
              <a:gd name="connsiteY169" fmla="*/ 2934701 h 6858000"/>
              <a:gd name="connsiteX170" fmla="*/ 3071009 w 12192000"/>
              <a:gd name="connsiteY170" fmla="*/ 2944432 h 6858000"/>
              <a:gd name="connsiteX171" fmla="*/ 3005039 w 12192000"/>
              <a:gd name="connsiteY171" fmla="*/ 2960743 h 6858000"/>
              <a:gd name="connsiteX172" fmla="*/ 3045255 w 12192000"/>
              <a:gd name="connsiteY172" fmla="*/ 2994795 h 6858000"/>
              <a:gd name="connsiteX173" fmla="*/ 3198769 w 12192000"/>
              <a:gd name="connsiteY173" fmla="*/ 3041966 h 6858000"/>
              <a:gd name="connsiteX174" fmla="*/ 3518098 w 12192000"/>
              <a:gd name="connsiteY174" fmla="*/ 3181525 h 6858000"/>
              <a:gd name="connsiteX175" fmla="*/ 3214876 w 12192000"/>
              <a:gd name="connsiteY175" fmla="*/ 3136382 h 6858000"/>
              <a:gd name="connsiteX176" fmla="*/ 3540876 w 12192000"/>
              <a:gd name="connsiteY176" fmla="*/ 3280232 h 6858000"/>
              <a:gd name="connsiteX177" fmla="*/ 3614558 w 12192000"/>
              <a:gd name="connsiteY177" fmla="*/ 3332242 h 6858000"/>
              <a:gd name="connsiteX178" fmla="*/ 3765439 w 12192000"/>
              <a:gd name="connsiteY178" fmla="*/ 3465091 h 6858000"/>
              <a:gd name="connsiteX179" fmla="*/ 3759506 w 12192000"/>
              <a:gd name="connsiteY179" fmla="*/ 3482990 h 6858000"/>
              <a:gd name="connsiteX180" fmla="*/ 3594905 w 12192000"/>
              <a:gd name="connsiteY180" fmla="*/ 3478499 h 6858000"/>
              <a:gd name="connsiteX181" fmla="*/ 3814430 w 12192000"/>
              <a:gd name="connsiteY181" fmla="*/ 3578876 h 6858000"/>
              <a:gd name="connsiteX182" fmla="*/ 4039126 w 12192000"/>
              <a:gd name="connsiteY182" fmla="*/ 3649369 h 6858000"/>
              <a:gd name="connsiteX183" fmla="*/ 3883152 w 12192000"/>
              <a:gd name="connsiteY183" fmla="*/ 3653497 h 6858000"/>
              <a:gd name="connsiteX184" fmla="*/ 3666446 w 12192000"/>
              <a:gd name="connsiteY184" fmla="*/ 3623911 h 6858000"/>
              <a:gd name="connsiteX185" fmla="*/ 3593589 w 12192000"/>
              <a:gd name="connsiteY185" fmla="*/ 3653674 h 6858000"/>
              <a:gd name="connsiteX186" fmla="*/ 3801238 w 12192000"/>
              <a:gd name="connsiteY186" fmla="*/ 3720862 h 6858000"/>
              <a:gd name="connsiteX187" fmla="*/ 3919545 w 12192000"/>
              <a:gd name="connsiteY187" fmla="*/ 3749213 h 6858000"/>
              <a:gd name="connsiteX188" fmla="*/ 3968059 w 12192000"/>
              <a:gd name="connsiteY188" fmla="*/ 3776085 h 6858000"/>
              <a:gd name="connsiteX189" fmla="*/ 4107750 w 12192000"/>
              <a:gd name="connsiteY189" fmla="*/ 3875932 h 6858000"/>
              <a:gd name="connsiteX190" fmla="*/ 4504087 w 12192000"/>
              <a:gd name="connsiteY190" fmla="*/ 3955698 h 6858000"/>
              <a:gd name="connsiteX191" fmla="*/ 5880284 w 12192000"/>
              <a:gd name="connsiteY191" fmla="*/ 3998656 h 6858000"/>
              <a:gd name="connsiteX192" fmla="*/ 8461494 w 12192000"/>
              <a:gd name="connsiteY192" fmla="*/ 3007971 h 6858000"/>
              <a:gd name="connsiteX193" fmla="*/ 8587378 w 12192000"/>
              <a:gd name="connsiteY193" fmla="*/ 2896089 h 6858000"/>
              <a:gd name="connsiteX194" fmla="*/ 8693826 w 12192000"/>
              <a:gd name="connsiteY194" fmla="*/ 2796225 h 6858000"/>
              <a:gd name="connsiteX195" fmla="*/ 8633488 w 12192000"/>
              <a:gd name="connsiteY195" fmla="*/ 2774007 h 6858000"/>
              <a:gd name="connsiteX196" fmla="*/ 8707444 w 12192000"/>
              <a:gd name="connsiteY196" fmla="*/ 2682105 h 6858000"/>
              <a:gd name="connsiteX197" fmla="*/ 8942552 w 12192000"/>
              <a:gd name="connsiteY197" fmla="*/ 2397549 h 6858000"/>
              <a:gd name="connsiteX198" fmla="*/ 9049260 w 12192000"/>
              <a:gd name="connsiteY198" fmla="*/ 2328253 h 6858000"/>
              <a:gd name="connsiteX199" fmla="*/ 9174304 w 12192000"/>
              <a:gd name="connsiteY199" fmla="*/ 2171379 h 6858000"/>
              <a:gd name="connsiteX200" fmla="*/ 9182228 w 12192000"/>
              <a:gd name="connsiteY200" fmla="*/ 2067678 h 6858000"/>
              <a:gd name="connsiteX201" fmla="*/ 9182278 w 12192000"/>
              <a:gd name="connsiteY201" fmla="*/ 2047313 h 6858000"/>
              <a:gd name="connsiteX202" fmla="*/ 9184334 w 12192000"/>
              <a:gd name="connsiteY202" fmla="*/ 2047686 h 6858000"/>
              <a:gd name="connsiteX203" fmla="*/ 9185124 w 12192000"/>
              <a:gd name="connsiteY203" fmla="*/ 1997142 h 6858000"/>
              <a:gd name="connsiteX204" fmla="*/ 9181592 w 12192000"/>
              <a:gd name="connsiteY204" fmla="*/ 1987782 h 6858000"/>
              <a:gd name="connsiteX205" fmla="*/ 9181190 w 12192000"/>
              <a:gd name="connsiteY205" fmla="*/ 1974586 h 6858000"/>
              <a:gd name="connsiteX206" fmla="*/ 9180252 w 12192000"/>
              <a:gd name="connsiteY206" fmla="*/ 1963164 h 6858000"/>
              <a:gd name="connsiteX207" fmla="*/ 9178804 w 12192000"/>
              <a:gd name="connsiteY207" fmla="*/ 1965349 h 6858000"/>
              <a:gd name="connsiteX208" fmla="*/ 9177606 w 12192000"/>
              <a:gd name="connsiteY208" fmla="*/ 1977215 h 6858000"/>
              <a:gd name="connsiteX209" fmla="*/ 9169614 w 12192000"/>
              <a:gd name="connsiteY209" fmla="*/ 1956030 h 6858000"/>
              <a:gd name="connsiteX210" fmla="*/ 9046406 w 12192000"/>
              <a:gd name="connsiteY210" fmla="*/ 1838718 h 6858000"/>
              <a:gd name="connsiteX211" fmla="*/ 8960873 w 12192000"/>
              <a:gd name="connsiteY211" fmla="*/ 1764524 h 6858000"/>
              <a:gd name="connsiteX212" fmla="*/ 8946755 w 12192000"/>
              <a:gd name="connsiteY212" fmla="*/ 1690806 h 6858000"/>
              <a:gd name="connsiteX213" fmla="*/ 8786897 w 12192000"/>
              <a:gd name="connsiteY213" fmla="*/ 1665607 h 6858000"/>
              <a:gd name="connsiteX214" fmla="*/ 8924505 w 12192000"/>
              <a:gd name="connsiteY214" fmla="*/ 1489227 h 6858000"/>
              <a:gd name="connsiteX215" fmla="*/ 8937122 w 12192000"/>
              <a:gd name="connsiteY215" fmla="*/ 1454681 h 6858000"/>
              <a:gd name="connsiteX216" fmla="*/ 8841119 w 12192000"/>
              <a:gd name="connsiteY216" fmla="*/ 1348202 h 6858000"/>
              <a:gd name="connsiteX217" fmla="*/ 8825548 w 12192000"/>
              <a:gd name="connsiteY217" fmla="*/ 1331028 h 6858000"/>
              <a:gd name="connsiteX218" fmla="*/ 8790413 w 12192000"/>
              <a:gd name="connsiteY218" fmla="*/ 1297436 h 6858000"/>
              <a:gd name="connsiteX219" fmla="*/ 8695944 w 12192000"/>
              <a:gd name="connsiteY219" fmla="*/ 1299752 h 6858000"/>
              <a:gd name="connsiteX220" fmla="*/ 8743050 w 12192000"/>
              <a:gd name="connsiteY220" fmla="*/ 1267471 h 6858000"/>
              <a:gd name="connsiteX221" fmla="*/ 8831902 w 12192000"/>
              <a:gd name="connsiteY221" fmla="*/ 1166250 h 6858000"/>
              <a:gd name="connsiteX222" fmla="*/ 8763628 w 12192000"/>
              <a:gd name="connsiteY222" fmla="*/ 1088084 h 6858000"/>
              <a:gd name="connsiteX223" fmla="*/ 8744052 w 12192000"/>
              <a:gd name="connsiteY223" fmla="*/ 1076766 h 6858000"/>
              <a:gd name="connsiteX224" fmla="*/ 8767977 w 12192000"/>
              <a:gd name="connsiteY224" fmla="*/ 1055883 h 6858000"/>
              <a:gd name="connsiteX225" fmla="*/ 8815418 w 12192000"/>
              <a:gd name="connsiteY225" fmla="*/ 986519 h 6858000"/>
              <a:gd name="connsiteX226" fmla="*/ 8839356 w 12192000"/>
              <a:gd name="connsiteY226" fmla="*/ 939330 h 6858000"/>
              <a:gd name="connsiteX227" fmla="*/ 8869964 w 12192000"/>
              <a:gd name="connsiteY227" fmla="*/ 917639 h 6858000"/>
              <a:gd name="connsiteX228" fmla="*/ 8876013 w 12192000"/>
              <a:gd name="connsiteY228" fmla="*/ 901606 h 6858000"/>
              <a:gd name="connsiteX229" fmla="*/ 8855230 w 12192000"/>
              <a:gd name="connsiteY229" fmla="*/ 828963 h 6858000"/>
              <a:gd name="connsiteX230" fmla="*/ 8844988 w 12192000"/>
              <a:gd name="connsiteY230" fmla="*/ 810876 h 6858000"/>
              <a:gd name="connsiteX231" fmla="*/ 8768255 w 12192000"/>
              <a:gd name="connsiteY231" fmla="*/ 747963 h 6858000"/>
              <a:gd name="connsiteX232" fmla="*/ 8692953 w 12192000"/>
              <a:gd name="connsiteY232" fmla="*/ 638707 h 6858000"/>
              <a:gd name="connsiteX233" fmla="*/ 8674423 w 12192000"/>
              <a:gd name="connsiteY233" fmla="*/ 564449 h 6858000"/>
              <a:gd name="connsiteX234" fmla="*/ 8667642 w 12192000"/>
              <a:gd name="connsiteY234" fmla="*/ 547822 h 6858000"/>
              <a:gd name="connsiteX235" fmla="*/ 8661198 w 12192000"/>
              <a:gd name="connsiteY235" fmla="*/ 478275 h 6858000"/>
              <a:gd name="connsiteX236" fmla="*/ 8645813 w 12192000"/>
              <a:gd name="connsiteY236" fmla="*/ 464032 h 6858000"/>
              <a:gd name="connsiteX237" fmla="*/ 8512338 w 12192000"/>
              <a:gd name="connsiteY237" fmla="*/ 477784 h 6858000"/>
              <a:gd name="connsiteX238" fmla="*/ 8481050 w 12192000"/>
              <a:gd name="connsiteY238" fmla="*/ 430572 h 6858000"/>
              <a:gd name="connsiteX239" fmla="*/ 8498220 w 12192000"/>
              <a:gd name="connsiteY239" fmla="*/ 404064 h 6858000"/>
              <a:gd name="connsiteX240" fmla="*/ 8489536 w 12192000"/>
              <a:gd name="connsiteY240" fmla="*/ 389280 h 6858000"/>
              <a:gd name="connsiteX241" fmla="*/ 0 w 12192000"/>
              <a:gd name="connsiteY241" fmla="*/ 0 h 6858000"/>
              <a:gd name="connsiteX242" fmla="*/ 12192000 w 12192000"/>
              <a:gd name="connsiteY242" fmla="*/ 0 h 6858000"/>
              <a:gd name="connsiteX243" fmla="*/ 12192000 w 12192000"/>
              <a:gd name="connsiteY243" fmla="*/ 6858000 h 6858000"/>
              <a:gd name="connsiteX244" fmla="*/ 0 w 12192000"/>
              <a:gd name="connsiteY2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2192000" h="6858000">
                <a:moveTo>
                  <a:pt x="9149158" y="2038490"/>
                </a:moveTo>
                <a:cubicBezTo>
                  <a:pt x="9152630" y="2038396"/>
                  <a:pt x="9157442" y="2039945"/>
                  <a:pt x="9164184" y="2044026"/>
                </a:cubicBezTo>
                <a:lnTo>
                  <a:pt x="9172532" y="2045543"/>
                </a:lnTo>
                <a:lnTo>
                  <a:pt x="9171580" y="2056997"/>
                </a:lnTo>
                <a:cubicBezTo>
                  <a:pt x="9169082" y="2082897"/>
                  <a:pt x="9165822" y="2102884"/>
                  <a:pt x="9161257" y="2098605"/>
                </a:cubicBezTo>
                <a:cubicBezTo>
                  <a:pt x="9149066" y="2086928"/>
                  <a:pt x="9130962" y="2077578"/>
                  <a:pt x="9138232" y="2059518"/>
                </a:cubicBezTo>
                <a:cubicBezTo>
                  <a:pt x="9140394" y="2053821"/>
                  <a:pt x="9138743" y="2038771"/>
                  <a:pt x="9149158" y="2038490"/>
                </a:cubicBezTo>
                <a:close/>
                <a:moveTo>
                  <a:pt x="9177606" y="1977215"/>
                </a:moveTo>
                <a:lnTo>
                  <a:pt x="9181592" y="1987782"/>
                </a:lnTo>
                <a:lnTo>
                  <a:pt x="9181923" y="1998627"/>
                </a:lnTo>
                <a:cubicBezTo>
                  <a:pt x="9182120" y="2008276"/>
                  <a:pt x="9182258" y="2019324"/>
                  <a:pt x="9182316" y="2031066"/>
                </a:cubicBezTo>
                <a:lnTo>
                  <a:pt x="9182278" y="2047313"/>
                </a:lnTo>
                <a:lnTo>
                  <a:pt x="9172532" y="2045543"/>
                </a:lnTo>
                <a:lnTo>
                  <a:pt x="9173842" y="2029805"/>
                </a:lnTo>
                <a:cubicBezTo>
                  <a:pt x="9175210" y="2011268"/>
                  <a:pt x="9176320" y="1992822"/>
                  <a:pt x="9177334" y="1979903"/>
                </a:cubicBezTo>
                <a:close/>
                <a:moveTo>
                  <a:pt x="3696300" y="1578900"/>
                </a:moveTo>
                <a:cubicBezTo>
                  <a:pt x="3710474" y="1584699"/>
                  <a:pt x="3724648" y="1590499"/>
                  <a:pt x="3738823" y="1596298"/>
                </a:cubicBezTo>
                <a:cubicBezTo>
                  <a:pt x="3731018" y="1595365"/>
                  <a:pt x="3722545" y="1594511"/>
                  <a:pt x="3714409" y="1593618"/>
                </a:cubicBezTo>
                <a:cubicBezTo>
                  <a:pt x="3707437" y="1589899"/>
                  <a:pt x="3700149" y="1586487"/>
                  <a:pt x="3693161" y="1582501"/>
                </a:cubicBezTo>
                <a:cubicBezTo>
                  <a:pt x="3694096" y="1581313"/>
                  <a:pt x="3695364" y="1580088"/>
                  <a:pt x="3696300" y="1578900"/>
                </a:cubicBezTo>
                <a:close/>
                <a:moveTo>
                  <a:pt x="3918454" y="1175387"/>
                </a:moveTo>
                <a:cubicBezTo>
                  <a:pt x="4003499" y="1210184"/>
                  <a:pt x="4088562" y="1245245"/>
                  <a:pt x="4173607" y="1280040"/>
                </a:cubicBezTo>
                <a:cubicBezTo>
                  <a:pt x="4172338" y="1281268"/>
                  <a:pt x="4171404" y="1282454"/>
                  <a:pt x="4170135" y="1283683"/>
                </a:cubicBezTo>
                <a:cubicBezTo>
                  <a:pt x="4077511" y="1256783"/>
                  <a:pt x="3989628" y="1225016"/>
                  <a:pt x="3918454" y="1175387"/>
                </a:cubicBezTo>
                <a:close/>
                <a:moveTo>
                  <a:pt x="8109090" y="602108"/>
                </a:moveTo>
                <a:lnTo>
                  <a:pt x="8113034" y="602645"/>
                </a:lnTo>
                <a:cubicBezTo>
                  <a:pt x="8117145" y="603257"/>
                  <a:pt x="8117456" y="603522"/>
                  <a:pt x="8111220" y="603405"/>
                </a:cubicBezTo>
                <a:close/>
                <a:moveTo>
                  <a:pt x="8489536" y="389280"/>
                </a:moveTo>
                <a:cubicBezTo>
                  <a:pt x="8479909" y="386150"/>
                  <a:pt x="8475270" y="392618"/>
                  <a:pt x="8470194" y="397527"/>
                </a:cubicBezTo>
                <a:cubicBezTo>
                  <a:pt x="8442581" y="423957"/>
                  <a:pt x="8407160" y="444085"/>
                  <a:pt x="8373511" y="465608"/>
                </a:cubicBezTo>
                <a:cubicBezTo>
                  <a:pt x="8325315" y="496678"/>
                  <a:pt x="8274262" y="525140"/>
                  <a:pt x="8231753" y="560890"/>
                </a:cubicBezTo>
                <a:cubicBezTo>
                  <a:pt x="8220884" y="569991"/>
                  <a:pt x="8202133" y="566357"/>
                  <a:pt x="8199967" y="553465"/>
                </a:cubicBezTo>
                <a:cubicBezTo>
                  <a:pt x="8197799" y="540575"/>
                  <a:pt x="8188778" y="541668"/>
                  <a:pt x="8175616" y="546483"/>
                </a:cubicBezTo>
                <a:cubicBezTo>
                  <a:pt x="8159813" y="552155"/>
                  <a:pt x="8144012" y="557828"/>
                  <a:pt x="8128578" y="563992"/>
                </a:cubicBezTo>
                <a:cubicBezTo>
                  <a:pt x="8112493" y="570503"/>
                  <a:pt x="8105752" y="580983"/>
                  <a:pt x="8104845" y="593172"/>
                </a:cubicBezTo>
                <a:cubicBezTo>
                  <a:pt x="8104654" y="595478"/>
                  <a:pt x="8104732" y="598018"/>
                  <a:pt x="8105615" y="599991"/>
                </a:cubicBezTo>
                <a:lnTo>
                  <a:pt x="8109090" y="602108"/>
                </a:lnTo>
                <a:lnTo>
                  <a:pt x="8092049" y="599788"/>
                </a:lnTo>
                <a:cubicBezTo>
                  <a:pt x="8074125" y="597229"/>
                  <a:pt x="8051995" y="593399"/>
                  <a:pt x="8047646" y="588557"/>
                </a:cubicBezTo>
                <a:cubicBezTo>
                  <a:pt x="8047278" y="588065"/>
                  <a:pt x="7852240" y="650342"/>
                  <a:pt x="7793637" y="681868"/>
                </a:cubicBezTo>
                <a:cubicBezTo>
                  <a:pt x="7757179" y="701583"/>
                  <a:pt x="7034011" y="1031296"/>
                  <a:pt x="6007741" y="1095470"/>
                </a:cubicBezTo>
                <a:cubicBezTo>
                  <a:pt x="5971519" y="1097710"/>
                  <a:pt x="5937353" y="1100506"/>
                  <a:pt x="5902533" y="1103650"/>
                </a:cubicBezTo>
                <a:cubicBezTo>
                  <a:pt x="5594429" y="1129961"/>
                  <a:pt x="5292360" y="1161179"/>
                  <a:pt x="5164222" y="1163546"/>
                </a:cubicBezTo>
                <a:cubicBezTo>
                  <a:pt x="5063988" y="1165217"/>
                  <a:pt x="4549164" y="1138992"/>
                  <a:pt x="4395075" y="1082763"/>
                </a:cubicBezTo>
                <a:cubicBezTo>
                  <a:pt x="4237527" y="1025076"/>
                  <a:pt x="4088158" y="958345"/>
                  <a:pt x="3939440" y="891265"/>
                </a:cubicBezTo>
                <a:cubicBezTo>
                  <a:pt x="3874968" y="862299"/>
                  <a:pt x="3806689" y="837016"/>
                  <a:pt x="3747894" y="801994"/>
                </a:cubicBezTo>
                <a:cubicBezTo>
                  <a:pt x="3689082" y="766706"/>
                  <a:pt x="3632839" y="729495"/>
                  <a:pt x="3569553" y="697970"/>
                </a:cubicBezTo>
                <a:cubicBezTo>
                  <a:pt x="3551464" y="688887"/>
                  <a:pt x="3533327" y="679005"/>
                  <a:pt x="3507813" y="680216"/>
                </a:cubicBezTo>
                <a:cubicBezTo>
                  <a:pt x="3502099" y="680371"/>
                  <a:pt x="3496101" y="681365"/>
                  <a:pt x="3490455" y="682587"/>
                </a:cubicBezTo>
                <a:cubicBezTo>
                  <a:pt x="3484140" y="683888"/>
                  <a:pt x="3479298" y="687159"/>
                  <a:pt x="3477246" y="691971"/>
                </a:cubicBezTo>
                <a:cubicBezTo>
                  <a:pt x="3475230" y="697315"/>
                  <a:pt x="3479426" y="699760"/>
                  <a:pt x="3484273" y="701857"/>
                </a:cubicBezTo>
                <a:cubicBezTo>
                  <a:pt x="3487733" y="703316"/>
                  <a:pt x="3491260" y="705843"/>
                  <a:pt x="3495638" y="705849"/>
                </a:cubicBezTo>
                <a:cubicBezTo>
                  <a:pt x="3523576" y="705686"/>
                  <a:pt x="3534967" y="720681"/>
                  <a:pt x="3548914" y="733487"/>
                </a:cubicBezTo>
                <a:cubicBezTo>
                  <a:pt x="3554984" y="738925"/>
                  <a:pt x="3561304" y="742991"/>
                  <a:pt x="3551504" y="753036"/>
                </a:cubicBezTo>
                <a:cubicBezTo>
                  <a:pt x="3542974" y="761854"/>
                  <a:pt x="3552584" y="764716"/>
                  <a:pt x="3562075" y="765715"/>
                </a:cubicBezTo>
                <a:cubicBezTo>
                  <a:pt x="3575293" y="767067"/>
                  <a:pt x="3590630" y="764672"/>
                  <a:pt x="3605942" y="772481"/>
                </a:cubicBezTo>
                <a:cubicBezTo>
                  <a:pt x="3550860" y="779958"/>
                  <a:pt x="3525860" y="757484"/>
                  <a:pt x="3499309" y="737079"/>
                </a:cubicBezTo>
                <a:cubicBezTo>
                  <a:pt x="3489410" y="729689"/>
                  <a:pt x="3482419" y="720334"/>
                  <a:pt x="3473788" y="711717"/>
                </a:cubicBezTo>
                <a:cubicBezTo>
                  <a:pt x="3463019" y="701211"/>
                  <a:pt x="3451290" y="702093"/>
                  <a:pt x="3437248" y="714263"/>
                </a:cubicBezTo>
                <a:cubicBezTo>
                  <a:pt x="3424810" y="725164"/>
                  <a:pt x="3418411" y="725135"/>
                  <a:pt x="3413254" y="712874"/>
                </a:cubicBezTo>
                <a:cubicBezTo>
                  <a:pt x="3405299" y="693706"/>
                  <a:pt x="3389031" y="681450"/>
                  <a:pt x="3362511" y="677414"/>
                </a:cubicBezTo>
                <a:cubicBezTo>
                  <a:pt x="3356728" y="676504"/>
                  <a:pt x="3349492" y="673891"/>
                  <a:pt x="3344467" y="679599"/>
                </a:cubicBezTo>
                <a:cubicBezTo>
                  <a:pt x="3340061" y="684428"/>
                  <a:pt x="3344392" y="689004"/>
                  <a:pt x="3347971" y="692328"/>
                </a:cubicBezTo>
                <a:cubicBezTo>
                  <a:pt x="3354407" y="698260"/>
                  <a:pt x="3360162" y="704004"/>
                  <a:pt x="3363008" y="711713"/>
                </a:cubicBezTo>
                <a:cubicBezTo>
                  <a:pt x="3365019" y="716838"/>
                  <a:pt x="3367062" y="722495"/>
                  <a:pt x="3362637" y="727058"/>
                </a:cubicBezTo>
                <a:cubicBezTo>
                  <a:pt x="3344342" y="746453"/>
                  <a:pt x="3358884" y="752745"/>
                  <a:pt x="3376167" y="759779"/>
                </a:cubicBezTo>
                <a:cubicBezTo>
                  <a:pt x="3400002" y="769239"/>
                  <a:pt x="3410177" y="786259"/>
                  <a:pt x="3406203" y="808483"/>
                </a:cubicBezTo>
                <a:cubicBezTo>
                  <a:pt x="3404757" y="817516"/>
                  <a:pt x="3406433" y="822682"/>
                  <a:pt x="3420116" y="820757"/>
                </a:cubicBezTo>
                <a:cubicBezTo>
                  <a:pt x="3425463" y="820110"/>
                  <a:pt x="3426984" y="822878"/>
                  <a:pt x="3429194" y="825831"/>
                </a:cubicBezTo>
                <a:cubicBezTo>
                  <a:pt x="3476758" y="896035"/>
                  <a:pt x="3542778" y="954609"/>
                  <a:pt x="3619149" y="1006561"/>
                </a:cubicBezTo>
                <a:cubicBezTo>
                  <a:pt x="3681093" y="1048718"/>
                  <a:pt x="3748746" y="1085351"/>
                  <a:pt x="3818654" y="1120369"/>
                </a:cubicBezTo>
                <a:cubicBezTo>
                  <a:pt x="3820742" y="1121458"/>
                  <a:pt x="3822850" y="1122813"/>
                  <a:pt x="3824021" y="1125355"/>
                </a:cubicBezTo>
                <a:cubicBezTo>
                  <a:pt x="3791940" y="1123873"/>
                  <a:pt x="3763844" y="1116270"/>
                  <a:pt x="3736668" y="1107215"/>
                </a:cubicBezTo>
                <a:cubicBezTo>
                  <a:pt x="3664431" y="1083216"/>
                  <a:pt x="3602610" y="1048291"/>
                  <a:pt x="3540174" y="1014247"/>
                </a:cubicBezTo>
                <a:cubicBezTo>
                  <a:pt x="3502142" y="993353"/>
                  <a:pt x="3463159" y="973379"/>
                  <a:pt x="3421640" y="955861"/>
                </a:cubicBezTo>
                <a:cubicBezTo>
                  <a:pt x="3414719" y="952940"/>
                  <a:pt x="3409737" y="948712"/>
                  <a:pt x="3404753" y="944484"/>
                </a:cubicBezTo>
                <a:cubicBezTo>
                  <a:pt x="3401911" y="942144"/>
                  <a:pt x="3398417" y="940152"/>
                  <a:pt x="3393138" y="941865"/>
                </a:cubicBezTo>
                <a:cubicBezTo>
                  <a:pt x="3386540" y="944006"/>
                  <a:pt x="3386126" y="948083"/>
                  <a:pt x="3385712" y="952159"/>
                </a:cubicBezTo>
                <a:cubicBezTo>
                  <a:pt x="3384520" y="965187"/>
                  <a:pt x="3389594" y="976116"/>
                  <a:pt x="3398641" y="986025"/>
                </a:cubicBezTo>
                <a:cubicBezTo>
                  <a:pt x="3422140" y="1011364"/>
                  <a:pt x="3455589" y="1029056"/>
                  <a:pt x="3489975" y="1045560"/>
                </a:cubicBezTo>
                <a:cubicBezTo>
                  <a:pt x="3534421" y="1066751"/>
                  <a:pt x="3577600" y="1089169"/>
                  <a:pt x="3617273" y="1114697"/>
                </a:cubicBezTo>
                <a:cubicBezTo>
                  <a:pt x="3620082" y="1116503"/>
                  <a:pt x="3625178" y="1117229"/>
                  <a:pt x="3623898" y="1123556"/>
                </a:cubicBezTo>
                <a:cubicBezTo>
                  <a:pt x="3599276" y="1112313"/>
                  <a:pt x="3576007" y="1101173"/>
                  <a:pt x="3552438" y="1090606"/>
                </a:cubicBezTo>
                <a:cubicBezTo>
                  <a:pt x="3529203" y="1079998"/>
                  <a:pt x="3505634" y="1069432"/>
                  <a:pt x="3482417" y="1059092"/>
                </a:cubicBezTo>
                <a:cubicBezTo>
                  <a:pt x="3476868" y="1056543"/>
                  <a:pt x="3470899" y="1052702"/>
                  <a:pt x="3463468" y="1057629"/>
                </a:cubicBezTo>
                <a:cubicBezTo>
                  <a:pt x="3455703" y="1062595"/>
                  <a:pt x="3457128" y="1069134"/>
                  <a:pt x="3459472" y="1074217"/>
                </a:cubicBezTo>
                <a:cubicBezTo>
                  <a:pt x="3466821" y="1089165"/>
                  <a:pt x="3478729" y="1101681"/>
                  <a:pt x="3494211" y="1112153"/>
                </a:cubicBezTo>
                <a:cubicBezTo>
                  <a:pt x="3546907" y="1146573"/>
                  <a:pt x="3606933" y="1174465"/>
                  <a:pt x="3663137" y="1205775"/>
                </a:cubicBezTo>
                <a:cubicBezTo>
                  <a:pt x="3693512" y="1222766"/>
                  <a:pt x="3721631" y="1241370"/>
                  <a:pt x="3748466" y="1260936"/>
                </a:cubicBezTo>
                <a:cubicBezTo>
                  <a:pt x="3754470" y="1265310"/>
                  <a:pt x="3754440" y="1270144"/>
                  <a:pt x="3753142" y="1276208"/>
                </a:cubicBezTo>
                <a:cubicBezTo>
                  <a:pt x="3747968" y="1300726"/>
                  <a:pt x="3758834" y="1307462"/>
                  <a:pt x="3791960" y="1298886"/>
                </a:cubicBezTo>
                <a:cubicBezTo>
                  <a:pt x="3802234" y="1296299"/>
                  <a:pt x="3809336" y="1296782"/>
                  <a:pt x="3816039" y="1301606"/>
                </a:cubicBezTo>
                <a:cubicBezTo>
                  <a:pt x="3897299" y="1361555"/>
                  <a:pt x="3991895" y="1408883"/>
                  <a:pt x="4094439" y="1448806"/>
                </a:cubicBezTo>
                <a:cubicBezTo>
                  <a:pt x="4136210" y="1464953"/>
                  <a:pt x="4179249" y="1479874"/>
                  <a:pt x="4222870" y="1493379"/>
                </a:cubicBezTo>
                <a:cubicBezTo>
                  <a:pt x="4222955" y="1494711"/>
                  <a:pt x="4223057" y="1496309"/>
                  <a:pt x="4223141" y="1497641"/>
                </a:cubicBezTo>
                <a:cubicBezTo>
                  <a:pt x="4222925" y="1499546"/>
                  <a:pt x="4222659" y="1500653"/>
                  <a:pt x="4222428" y="1502292"/>
                </a:cubicBezTo>
                <a:cubicBezTo>
                  <a:pt x="4160784" y="1480767"/>
                  <a:pt x="4099761" y="1458363"/>
                  <a:pt x="4039973" y="1434198"/>
                </a:cubicBezTo>
                <a:cubicBezTo>
                  <a:pt x="3877889" y="1368737"/>
                  <a:pt x="3722432" y="1296301"/>
                  <a:pt x="3564773" y="1226279"/>
                </a:cubicBezTo>
                <a:cubicBezTo>
                  <a:pt x="3511752" y="1202636"/>
                  <a:pt x="3468897" y="1169442"/>
                  <a:pt x="3420650" y="1141464"/>
                </a:cubicBezTo>
                <a:cubicBezTo>
                  <a:pt x="3388486" y="1122812"/>
                  <a:pt x="3357590" y="1102932"/>
                  <a:pt x="3320669" y="1088883"/>
                </a:cubicBezTo>
                <a:cubicBezTo>
                  <a:pt x="3305491" y="1083205"/>
                  <a:pt x="3289697" y="1078406"/>
                  <a:pt x="3270102" y="1082659"/>
                </a:cubicBezTo>
                <a:cubicBezTo>
                  <a:pt x="3262467" y="1084389"/>
                  <a:pt x="3253881" y="1087040"/>
                  <a:pt x="3251648" y="1094290"/>
                </a:cubicBezTo>
                <a:cubicBezTo>
                  <a:pt x="3249750" y="1101498"/>
                  <a:pt x="3256970" y="1103846"/>
                  <a:pt x="3263506" y="1106005"/>
                </a:cubicBezTo>
                <a:cubicBezTo>
                  <a:pt x="3265227" y="1106604"/>
                  <a:pt x="3266966" y="1107467"/>
                  <a:pt x="3268636" y="1107265"/>
                </a:cubicBezTo>
                <a:cubicBezTo>
                  <a:pt x="3300482" y="1105018"/>
                  <a:pt x="3309121" y="1124372"/>
                  <a:pt x="3325089" y="1137201"/>
                </a:cubicBezTo>
                <a:cubicBezTo>
                  <a:pt x="3330055" y="1141164"/>
                  <a:pt x="3330677" y="1145651"/>
                  <a:pt x="3326003" y="1151585"/>
                </a:cubicBezTo>
                <a:cubicBezTo>
                  <a:pt x="3317592" y="1162266"/>
                  <a:pt x="3324211" y="1165760"/>
                  <a:pt x="3336410" y="1166967"/>
                </a:cubicBezTo>
                <a:cubicBezTo>
                  <a:pt x="3348608" y="1168175"/>
                  <a:pt x="3361690" y="1167395"/>
                  <a:pt x="3375112" y="1171943"/>
                </a:cubicBezTo>
                <a:cubicBezTo>
                  <a:pt x="3354718" y="1179513"/>
                  <a:pt x="3340011" y="1175927"/>
                  <a:pt x="3326222" y="1170885"/>
                </a:cubicBezTo>
                <a:cubicBezTo>
                  <a:pt x="3295216" y="1159877"/>
                  <a:pt x="3274464" y="1140648"/>
                  <a:pt x="3254679" y="1120765"/>
                </a:cubicBezTo>
                <a:cubicBezTo>
                  <a:pt x="3250733" y="1116948"/>
                  <a:pt x="3247420" y="1112518"/>
                  <a:pt x="3242188" y="1109662"/>
                </a:cubicBezTo>
                <a:cubicBezTo>
                  <a:pt x="3232391" y="1103869"/>
                  <a:pt x="3222316" y="1104284"/>
                  <a:pt x="3211499" y="1114184"/>
                </a:cubicBezTo>
                <a:cubicBezTo>
                  <a:pt x="3197173" y="1127194"/>
                  <a:pt x="3191777" y="1127042"/>
                  <a:pt x="3185849" y="1113265"/>
                </a:cubicBezTo>
                <a:cubicBezTo>
                  <a:pt x="3177929" y="1094629"/>
                  <a:pt x="3162028" y="1082865"/>
                  <a:pt x="3135843" y="1078789"/>
                </a:cubicBezTo>
                <a:cubicBezTo>
                  <a:pt x="3130396" y="1077837"/>
                  <a:pt x="3124578" y="1076395"/>
                  <a:pt x="3119118" y="1080546"/>
                </a:cubicBezTo>
                <a:cubicBezTo>
                  <a:pt x="3113359" y="1085269"/>
                  <a:pt x="3117622" y="1088780"/>
                  <a:pt x="3120198" y="1092226"/>
                </a:cubicBezTo>
                <a:cubicBezTo>
                  <a:pt x="3123912" y="1097682"/>
                  <a:pt x="3128295" y="1103057"/>
                  <a:pt x="3131691" y="1108819"/>
                </a:cubicBezTo>
                <a:cubicBezTo>
                  <a:pt x="3137665" y="1118027"/>
                  <a:pt x="3139328" y="1128295"/>
                  <a:pt x="3129914" y="1139097"/>
                </a:cubicBezTo>
                <a:cubicBezTo>
                  <a:pt x="3123003" y="1146915"/>
                  <a:pt x="3123960" y="1151361"/>
                  <a:pt x="3133955" y="1154983"/>
                </a:cubicBezTo>
                <a:cubicBezTo>
                  <a:pt x="3165979" y="1166136"/>
                  <a:pt x="3186931" y="1183194"/>
                  <a:pt x="3178170" y="1214855"/>
                </a:cubicBezTo>
                <a:cubicBezTo>
                  <a:pt x="3176770" y="1219320"/>
                  <a:pt x="3179046" y="1223338"/>
                  <a:pt x="3185378" y="1222303"/>
                </a:cubicBezTo>
                <a:cubicBezTo>
                  <a:pt x="3199361" y="1219805"/>
                  <a:pt x="3202140" y="1226447"/>
                  <a:pt x="3206608" y="1233153"/>
                </a:cubicBezTo>
                <a:cubicBezTo>
                  <a:pt x="3250090" y="1297409"/>
                  <a:pt x="3310389" y="1350771"/>
                  <a:pt x="3379140" y="1399351"/>
                </a:cubicBezTo>
                <a:cubicBezTo>
                  <a:pt x="3447189" y="1447479"/>
                  <a:pt x="3522881" y="1488775"/>
                  <a:pt x="3603118" y="1527375"/>
                </a:cubicBezTo>
                <a:cubicBezTo>
                  <a:pt x="3581296" y="1528405"/>
                  <a:pt x="3552602" y="1521951"/>
                  <a:pt x="3524809" y="1513774"/>
                </a:cubicBezTo>
                <a:cubicBezTo>
                  <a:pt x="3451354" y="1491802"/>
                  <a:pt x="3389901" y="1457369"/>
                  <a:pt x="3327498" y="1423859"/>
                </a:cubicBezTo>
                <a:cubicBezTo>
                  <a:pt x="3283917" y="1400416"/>
                  <a:pt x="3241288" y="1376052"/>
                  <a:pt x="3192949" y="1357211"/>
                </a:cubicBezTo>
                <a:cubicBezTo>
                  <a:pt x="3187434" y="1355196"/>
                  <a:pt x="3183538" y="1352177"/>
                  <a:pt x="3180259" y="1348280"/>
                </a:cubicBezTo>
                <a:cubicBezTo>
                  <a:pt x="3177348" y="1344874"/>
                  <a:pt x="3173119" y="1341896"/>
                  <a:pt x="3166204" y="1344345"/>
                </a:cubicBezTo>
                <a:cubicBezTo>
                  <a:pt x="3159306" y="1347059"/>
                  <a:pt x="3158942" y="1351935"/>
                  <a:pt x="3159212" y="1356197"/>
                </a:cubicBezTo>
                <a:cubicBezTo>
                  <a:pt x="3161232" y="1372059"/>
                  <a:pt x="3167827" y="1385754"/>
                  <a:pt x="3181004" y="1397043"/>
                </a:cubicBezTo>
                <a:cubicBezTo>
                  <a:pt x="3206688" y="1419701"/>
                  <a:pt x="3240037" y="1435794"/>
                  <a:pt x="3273385" y="1451888"/>
                </a:cubicBezTo>
                <a:cubicBezTo>
                  <a:pt x="3319573" y="1473941"/>
                  <a:pt x="3362569" y="1498797"/>
                  <a:pt x="3401776" y="1527602"/>
                </a:cubicBezTo>
                <a:cubicBezTo>
                  <a:pt x="3374012" y="1514591"/>
                  <a:pt x="3346230" y="1501313"/>
                  <a:pt x="3318130" y="1488342"/>
                </a:cubicBezTo>
                <a:cubicBezTo>
                  <a:pt x="3296969" y="1478558"/>
                  <a:pt x="3275173" y="1469387"/>
                  <a:pt x="3253694" y="1459909"/>
                </a:cubicBezTo>
                <a:cubicBezTo>
                  <a:pt x="3248495" y="1457587"/>
                  <a:pt x="3242945" y="1455038"/>
                  <a:pt x="3236182" y="1459882"/>
                </a:cubicBezTo>
                <a:cubicBezTo>
                  <a:pt x="3230053" y="1464115"/>
                  <a:pt x="3231378" y="1469055"/>
                  <a:pt x="3233020" y="1473687"/>
                </a:cubicBezTo>
                <a:cubicBezTo>
                  <a:pt x="3239235" y="1491993"/>
                  <a:pt x="3254236" y="1505477"/>
                  <a:pt x="3272474" y="1516958"/>
                </a:cubicBezTo>
                <a:cubicBezTo>
                  <a:pt x="3294559" y="1530657"/>
                  <a:pt x="3317595" y="1543436"/>
                  <a:pt x="3341300" y="1556133"/>
                </a:cubicBezTo>
                <a:cubicBezTo>
                  <a:pt x="3316637" y="1554825"/>
                  <a:pt x="3291973" y="1553517"/>
                  <a:pt x="3267359" y="1553009"/>
                </a:cubicBezTo>
                <a:cubicBezTo>
                  <a:pt x="3280352" y="1582573"/>
                  <a:pt x="3306470" y="1585584"/>
                  <a:pt x="3329832" y="1587586"/>
                </a:cubicBezTo>
                <a:cubicBezTo>
                  <a:pt x="3361297" y="1589949"/>
                  <a:pt x="3391527" y="1594072"/>
                  <a:pt x="3421490" y="1599301"/>
                </a:cubicBezTo>
                <a:cubicBezTo>
                  <a:pt x="3434412" y="1606594"/>
                  <a:pt x="3447319" y="1613621"/>
                  <a:pt x="3459923" y="1621220"/>
                </a:cubicBezTo>
                <a:cubicBezTo>
                  <a:pt x="3472880" y="1629046"/>
                  <a:pt x="3485168" y="1636952"/>
                  <a:pt x="3497490" y="1645392"/>
                </a:cubicBezTo>
                <a:cubicBezTo>
                  <a:pt x="3506301" y="1651572"/>
                  <a:pt x="3516714" y="1656484"/>
                  <a:pt x="3507803" y="1669911"/>
                </a:cubicBezTo>
                <a:cubicBezTo>
                  <a:pt x="3503816" y="1676032"/>
                  <a:pt x="3534148" y="1702959"/>
                  <a:pt x="3543290" y="1703729"/>
                </a:cubicBezTo>
                <a:cubicBezTo>
                  <a:pt x="3544644" y="1703834"/>
                  <a:pt x="3545996" y="1703940"/>
                  <a:pt x="3546999" y="1703818"/>
                </a:cubicBezTo>
                <a:cubicBezTo>
                  <a:pt x="3566312" y="1700405"/>
                  <a:pt x="3571232" y="1708935"/>
                  <a:pt x="3572295" y="1720349"/>
                </a:cubicBezTo>
                <a:cubicBezTo>
                  <a:pt x="3573341" y="1731497"/>
                  <a:pt x="3570880" y="1745753"/>
                  <a:pt x="3596922" y="1736961"/>
                </a:cubicBezTo>
                <a:cubicBezTo>
                  <a:pt x="3599895" y="1736064"/>
                  <a:pt x="3600664" y="1737582"/>
                  <a:pt x="3602119" y="1739285"/>
                </a:cubicBezTo>
                <a:cubicBezTo>
                  <a:pt x="3633888" y="1783486"/>
                  <a:pt x="3684678" y="1814377"/>
                  <a:pt x="3734798" y="1845349"/>
                </a:cubicBezTo>
                <a:cubicBezTo>
                  <a:pt x="3737590" y="1846890"/>
                  <a:pt x="3740383" y="1848430"/>
                  <a:pt x="3743174" y="1849972"/>
                </a:cubicBezTo>
                <a:cubicBezTo>
                  <a:pt x="3692460" y="1846720"/>
                  <a:pt x="3526297" y="1854765"/>
                  <a:pt x="3478101" y="1864630"/>
                </a:cubicBezTo>
                <a:cubicBezTo>
                  <a:pt x="3435216" y="1873314"/>
                  <a:pt x="3187933" y="1844748"/>
                  <a:pt x="3135293" y="1816496"/>
                </a:cubicBezTo>
                <a:cubicBezTo>
                  <a:pt x="3129987" y="1844249"/>
                  <a:pt x="3145700" y="1853084"/>
                  <a:pt x="3158510" y="1863880"/>
                </a:cubicBezTo>
                <a:cubicBezTo>
                  <a:pt x="3176652" y="1879130"/>
                  <a:pt x="3180104" y="1891061"/>
                  <a:pt x="3148907" y="1908797"/>
                </a:cubicBezTo>
                <a:cubicBezTo>
                  <a:pt x="3059526" y="1959351"/>
                  <a:pt x="3060614" y="1960561"/>
                  <a:pt x="3150229" y="2003660"/>
                </a:cubicBezTo>
                <a:cubicBezTo>
                  <a:pt x="3154391" y="2005572"/>
                  <a:pt x="3152878" y="2013539"/>
                  <a:pt x="3154219" y="2018746"/>
                </a:cubicBezTo>
                <a:cubicBezTo>
                  <a:pt x="3132340" y="2029448"/>
                  <a:pt x="3104621" y="2011868"/>
                  <a:pt x="3079313" y="2037482"/>
                </a:cubicBezTo>
                <a:cubicBezTo>
                  <a:pt x="3200844" y="2121812"/>
                  <a:pt x="3382216" y="2194063"/>
                  <a:pt x="3545961" y="2248584"/>
                </a:cubicBezTo>
                <a:cubicBezTo>
                  <a:pt x="3418859" y="2288406"/>
                  <a:pt x="3336249" y="2212515"/>
                  <a:pt x="3242382" y="2234890"/>
                </a:cubicBezTo>
                <a:cubicBezTo>
                  <a:pt x="3196963" y="2267233"/>
                  <a:pt x="3340047" y="2293389"/>
                  <a:pt x="3206852" y="2322137"/>
                </a:cubicBezTo>
                <a:cubicBezTo>
                  <a:pt x="3266485" y="2338535"/>
                  <a:pt x="3311047" y="2356223"/>
                  <a:pt x="3352854" y="2378270"/>
                </a:cubicBezTo>
                <a:cubicBezTo>
                  <a:pt x="3427094" y="2417864"/>
                  <a:pt x="3443161" y="2448130"/>
                  <a:pt x="3414532" y="2516826"/>
                </a:cubicBezTo>
                <a:cubicBezTo>
                  <a:pt x="3395525" y="2562076"/>
                  <a:pt x="3366606" y="2605038"/>
                  <a:pt x="3397577" y="2652556"/>
                </a:cubicBezTo>
                <a:cubicBezTo>
                  <a:pt x="3418842" y="2685144"/>
                  <a:pt x="3412947" y="2708944"/>
                  <a:pt x="3339773" y="2701969"/>
                </a:cubicBezTo>
                <a:cubicBezTo>
                  <a:pt x="3260852" y="2694617"/>
                  <a:pt x="3233446" y="2729610"/>
                  <a:pt x="3257041" y="2788223"/>
                </a:cubicBezTo>
                <a:cubicBezTo>
                  <a:pt x="3272229" y="2825841"/>
                  <a:pt x="3259642" y="2839714"/>
                  <a:pt x="3205892" y="2841661"/>
                </a:cubicBezTo>
                <a:cubicBezTo>
                  <a:pt x="3146428" y="2843763"/>
                  <a:pt x="3088665" y="2824990"/>
                  <a:pt x="3016267" y="2846107"/>
                </a:cubicBezTo>
                <a:cubicBezTo>
                  <a:pt x="3079284" y="2910414"/>
                  <a:pt x="3202965" y="2875032"/>
                  <a:pt x="3275450" y="2934701"/>
                </a:cubicBezTo>
                <a:cubicBezTo>
                  <a:pt x="3194271" y="2944802"/>
                  <a:pt x="3132104" y="2952064"/>
                  <a:pt x="3071009" y="2944432"/>
                </a:cubicBezTo>
                <a:cubicBezTo>
                  <a:pt x="3045559" y="2941340"/>
                  <a:pt x="3017770" y="2938533"/>
                  <a:pt x="3005039" y="2960743"/>
                </a:cubicBezTo>
                <a:cubicBezTo>
                  <a:pt x="2989910" y="2987540"/>
                  <a:pt x="3024584" y="2992735"/>
                  <a:pt x="3045255" y="2994795"/>
                </a:cubicBezTo>
                <a:cubicBezTo>
                  <a:pt x="3103524" y="3000354"/>
                  <a:pt x="3149512" y="3024578"/>
                  <a:pt x="3198769" y="3041966"/>
                </a:cubicBezTo>
                <a:cubicBezTo>
                  <a:pt x="3306591" y="3080177"/>
                  <a:pt x="3424230" y="3108608"/>
                  <a:pt x="3518098" y="3181525"/>
                </a:cubicBezTo>
                <a:cubicBezTo>
                  <a:pt x="3405474" y="3173693"/>
                  <a:pt x="3319103" y="3133957"/>
                  <a:pt x="3214876" y="3136382"/>
                </a:cubicBezTo>
                <a:cubicBezTo>
                  <a:pt x="3309623" y="3201944"/>
                  <a:pt x="3428070" y="3237794"/>
                  <a:pt x="3540876" y="3280232"/>
                </a:cubicBezTo>
                <a:cubicBezTo>
                  <a:pt x="3572951" y="3292185"/>
                  <a:pt x="3605372" y="3298995"/>
                  <a:pt x="3614558" y="3332242"/>
                </a:cubicBezTo>
                <a:cubicBezTo>
                  <a:pt x="3632460" y="3396643"/>
                  <a:pt x="3676382" y="3446619"/>
                  <a:pt x="3765439" y="3465091"/>
                </a:cubicBezTo>
                <a:cubicBezTo>
                  <a:pt x="3766125" y="3465276"/>
                  <a:pt x="3762072" y="3475699"/>
                  <a:pt x="3759506" y="3482990"/>
                </a:cubicBezTo>
                <a:cubicBezTo>
                  <a:pt x="3706514" y="3491555"/>
                  <a:pt x="3662256" y="3457457"/>
                  <a:pt x="3594905" y="3478499"/>
                </a:cubicBezTo>
                <a:cubicBezTo>
                  <a:pt x="3663098" y="3523656"/>
                  <a:pt x="3720597" y="3564741"/>
                  <a:pt x="3814430" y="3578876"/>
                </a:cubicBezTo>
                <a:cubicBezTo>
                  <a:pt x="3889563" y="3590177"/>
                  <a:pt x="3981512" y="3590582"/>
                  <a:pt x="4039126" y="3649369"/>
                </a:cubicBezTo>
                <a:cubicBezTo>
                  <a:pt x="3977790" y="3669682"/>
                  <a:pt x="3930328" y="3659325"/>
                  <a:pt x="3883152" y="3653497"/>
                </a:cubicBezTo>
                <a:cubicBezTo>
                  <a:pt x="3810528" y="3644576"/>
                  <a:pt x="3739087" y="3633097"/>
                  <a:pt x="3666446" y="3623911"/>
                </a:cubicBezTo>
                <a:cubicBezTo>
                  <a:pt x="3638957" y="3620530"/>
                  <a:pt x="3608896" y="3619071"/>
                  <a:pt x="3593589" y="3653674"/>
                </a:cubicBezTo>
                <a:cubicBezTo>
                  <a:pt x="3684581" y="3649631"/>
                  <a:pt x="3741824" y="3686720"/>
                  <a:pt x="3801238" y="3720862"/>
                </a:cubicBezTo>
                <a:cubicBezTo>
                  <a:pt x="3834791" y="3740152"/>
                  <a:pt x="3862819" y="3767894"/>
                  <a:pt x="3919545" y="3749213"/>
                </a:cubicBezTo>
                <a:cubicBezTo>
                  <a:pt x="3949563" y="3739403"/>
                  <a:pt x="3970044" y="3754371"/>
                  <a:pt x="3968059" y="3776085"/>
                </a:cubicBezTo>
                <a:cubicBezTo>
                  <a:pt x="3961477" y="3852579"/>
                  <a:pt x="4033657" y="3870411"/>
                  <a:pt x="4107750" y="3875932"/>
                </a:cubicBezTo>
                <a:cubicBezTo>
                  <a:pt x="4247829" y="3886613"/>
                  <a:pt x="4367192" y="3936847"/>
                  <a:pt x="4504087" y="3955698"/>
                </a:cubicBezTo>
                <a:cubicBezTo>
                  <a:pt x="4637239" y="3973931"/>
                  <a:pt x="5630348" y="4013091"/>
                  <a:pt x="5880284" y="3998656"/>
                </a:cubicBezTo>
                <a:cubicBezTo>
                  <a:pt x="7409751" y="3910310"/>
                  <a:pt x="8457142" y="3018967"/>
                  <a:pt x="8461494" y="3007971"/>
                </a:cubicBezTo>
                <a:cubicBezTo>
                  <a:pt x="8481448" y="2956432"/>
                  <a:pt x="8537247" y="2928466"/>
                  <a:pt x="8587378" y="2896089"/>
                </a:cubicBezTo>
                <a:cubicBezTo>
                  <a:pt x="8631032" y="2867717"/>
                  <a:pt x="8677604" y="2837649"/>
                  <a:pt x="8693826" y="2796225"/>
                </a:cubicBezTo>
                <a:cubicBezTo>
                  <a:pt x="8715249" y="2741288"/>
                  <a:pt x="8647790" y="2792407"/>
                  <a:pt x="8633488" y="2774007"/>
                </a:cubicBezTo>
                <a:cubicBezTo>
                  <a:pt x="8658507" y="2743865"/>
                  <a:pt x="8698366" y="2714075"/>
                  <a:pt x="8707444" y="2682105"/>
                </a:cubicBezTo>
                <a:cubicBezTo>
                  <a:pt x="8739824" y="2566518"/>
                  <a:pt x="8819561" y="2475526"/>
                  <a:pt x="8942552" y="2397549"/>
                </a:cubicBezTo>
                <a:cubicBezTo>
                  <a:pt x="8977822" y="2375023"/>
                  <a:pt x="8999812" y="2339612"/>
                  <a:pt x="9049260" y="2328253"/>
                </a:cubicBezTo>
                <a:cubicBezTo>
                  <a:pt x="9159134" y="2303404"/>
                  <a:pt x="9118356" y="2218151"/>
                  <a:pt x="9174304" y="2171379"/>
                </a:cubicBezTo>
                <a:cubicBezTo>
                  <a:pt x="9179581" y="2166982"/>
                  <a:pt x="9181728" y="2117398"/>
                  <a:pt x="9182228" y="2067678"/>
                </a:cubicBezTo>
                <a:lnTo>
                  <a:pt x="9182278" y="2047313"/>
                </a:lnTo>
                <a:lnTo>
                  <a:pt x="9184334" y="2047686"/>
                </a:lnTo>
                <a:cubicBezTo>
                  <a:pt x="9192950" y="2042242"/>
                  <a:pt x="9192359" y="2022485"/>
                  <a:pt x="9185124" y="1997142"/>
                </a:cubicBezTo>
                <a:lnTo>
                  <a:pt x="9181592" y="1987782"/>
                </a:lnTo>
                <a:lnTo>
                  <a:pt x="9181190" y="1974586"/>
                </a:lnTo>
                <a:cubicBezTo>
                  <a:pt x="9180902" y="1968441"/>
                  <a:pt x="9180584" y="1964399"/>
                  <a:pt x="9180252" y="1963164"/>
                </a:cubicBezTo>
                <a:cubicBezTo>
                  <a:pt x="9179760" y="1961378"/>
                  <a:pt x="9179284" y="1962333"/>
                  <a:pt x="9178804" y="1965349"/>
                </a:cubicBezTo>
                <a:lnTo>
                  <a:pt x="9177606" y="1977215"/>
                </a:lnTo>
                <a:lnTo>
                  <a:pt x="9169614" y="1956030"/>
                </a:lnTo>
                <a:cubicBezTo>
                  <a:pt x="9143144" y="1898537"/>
                  <a:pt x="9095234" y="1836160"/>
                  <a:pt x="9046406" y="1838718"/>
                </a:cubicBezTo>
                <a:cubicBezTo>
                  <a:pt x="9077129" y="1760642"/>
                  <a:pt x="9077129" y="1760642"/>
                  <a:pt x="8960873" y="1764524"/>
                </a:cubicBezTo>
                <a:cubicBezTo>
                  <a:pt x="9002330" y="1712259"/>
                  <a:pt x="9001568" y="1700272"/>
                  <a:pt x="8946755" y="1690806"/>
                </a:cubicBezTo>
                <a:cubicBezTo>
                  <a:pt x="8893980" y="1681628"/>
                  <a:pt x="8836186" y="1683529"/>
                  <a:pt x="8786897" y="1665607"/>
                </a:cubicBezTo>
                <a:cubicBezTo>
                  <a:pt x="8827191" y="1600331"/>
                  <a:pt x="8835148" y="1529576"/>
                  <a:pt x="8924505" y="1489227"/>
                </a:cubicBezTo>
                <a:cubicBezTo>
                  <a:pt x="8938584" y="1482958"/>
                  <a:pt x="8947122" y="1463671"/>
                  <a:pt x="8937122" y="1454681"/>
                </a:cubicBezTo>
                <a:cubicBezTo>
                  <a:pt x="8901654" y="1421129"/>
                  <a:pt x="8944526" y="1343460"/>
                  <a:pt x="8841119" y="1348202"/>
                </a:cubicBezTo>
                <a:cubicBezTo>
                  <a:pt x="8828354" y="1348673"/>
                  <a:pt x="8816185" y="1342631"/>
                  <a:pt x="8825548" y="1331028"/>
                </a:cubicBezTo>
                <a:cubicBezTo>
                  <a:pt x="8857711" y="1291432"/>
                  <a:pt x="8816096" y="1298887"/>
                  <a:pt x="8790413" y="1297436"/>
                </a:cubicBezTo>
                <a:cubicBezTo>
                  <a:pt x="8759333" y="1295832"/>
                  <a:pt x="8725565" y="1315490"/>
                  <a:pt x="8695944" y="1299752"/>
                </a:cubicBezTo>
                <a:cubicBezTo>
                  <a:pt x="8701338" y="1278697"/>
                  <a:pt x="8726082" y="1275968"/>
                  <a:pt x="8743050" y="1267471"/>
                </a:cubicBezTo>
                <a:cubicBezTo>
                  <a:pt x="8792636" y="1242406"/>
                  <a:pt x="8832648" y="1215014"/>
                  <a:pt x="8831902" y="1166250"/>
                </a:cubicBezTo>
                <a:cubicBezTo>
                  <a:pt x="8831416" y="1126849"/>
                  <a:pt x="8834560" y="1091573"/>
                  <a:pt x="8763628" y="1088084"/>
                </a:cubicBezTo>
                <a:cubicBezTo>
                  <a:pt x="8752484" y="1087556"/>
                  <a:pt x="8746480" y="1083182"/>
                  <a:pt x="8744052" y="1076766"/>
                </a:cubicBezTo>
                <a:cubicBezTo>
                  <a:pt x="8751664" y="1069402"/>
                  <a:pt x="8758926" y="1061811"/>
                  <a:pt x="8767977" y="1055883"/>
                </a:cubicBezTo>
                <a:cubicBezTo>
                  <a:pt x="8798386" y="1036363"/>
                  <a:pt x="8807604" y="1011893"/>
                  <a:pt x="8815418" y="986519"/>
                </a:cubicBezTo>
                <a:cubicBezTo>
                  <a:pt x="8820450" y="970342"/>
                  <a:pt x="8826500" y="954308"/>
                  <a:pt x="8839356" y="939330"/>
                </a:cubicBezTo>
                <a:cubicBezTo>
                  <a:pt x="8847184" y="930060"/>
                  <a:pt x="8857152" y="922680"/>
                  <a:pt x="8869964" y="917639"/>
                </a:cubicBezTo>
                <a:cubicBezTo>
                  <a:pt x="8881119" y="913066"/>
                  <a:pt x="8884190" y="908399"/>
                  <a:pt x="8876013" y="901606"/>
                </a:cubicBezTo>
                <a:cubicBezTo>
                  <a:pt x="8852888" y="882126"/>
                  <a:pt x="8842659" y="858937"/>
                  <a:pt x="8855230" y="828963"/>
                </a:cubicBezTo>
                <a:cubicBezTo>
                  <a:pt x="8859032" y="819911"/>
                  <a:pt x="8855550" y="812818"/>
                  <a:pt x="8844988" y="810876"/>
                </a:cubicBezTo>
                <a:cubicBezTo>
                  <a:pt x="8801020" y="802512"/>
                  <a:pt x="8788328" y="772374"/>
                  <a:pt x="8768255" y="747963"/>
                </a:cubicBezTo>
                <a:cubicBezTo>
                  <a:pt x="8739786" y="713294"/>
                  <a:pt x="8713605" y="677543"/>
                  <a:pt x="8692953" y="638707"/>
                </a:cubicBezTo>
                <a:cubicBezTo>
                  <a:pt x="8680700" y="615495"/>
                  <a:pt x="8668800" y="592509"/>
                  <a:pt x="8674423" y="564449"/>
                </a:cubicBezTo>
                <a:cubicBezTo>
                  <a:pt x="8675670" y="557588"/>
                  <a:pt x="8672308" y="552358"/>
                  <a:pt x="8667642" y="547822"/>
                </a:cubicBezTo>
                <a:cubicBezTo>
                  <a:pt x="8647856" y="527939"/>
                  <a:pt x="8648704" y="504214"/>
                  <a:pt x="8661198" y="478275"/>
                </a:cubicBezTo>
                <a:cubicBezTo>
                  <a:pt x="8668953" y="462573"/>
                  <a:pt x="8667832" y="460828"/>
                  <a:pt x="8645813" y="464032"/>
                </a:cubicBezTo>
                <a:cubicBezTo>
                  <a:pt x="8601088" y="470255"/>
                  <a:pt x="8556732" y="476969"/>
                  <a:pt x="8512338" y="477784"/>
                </a:cubicBezTo>
                <a:cubicBezTo>
                  <a:pt x="8462562" y="478712"/>
                  <a:pt x="8445778" y="468934"/>
                  <a:pt x="8481050" y="430572"/>
                </a:cubicBezTo>
                <a:cubicBezTo>
                  <a:pt x="8488612" y="422408"/>
                  <a:pt x="8495122" y="413567"/>
                  <a:pt x="8498220" y="404064"/>
                </a:cubicBezTo>
                <a:cubicBezTo>
                  <a:pt x="8500436" y="396549"/>
                  <a:pt x="8497776" y="391771"/>
                  <a:pt x="8489536" y="38928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063296"/>
            <a:ext cx="6858000" cy="1152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Zomato Customer Behavior &amp; Order Pattern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329534"/>
            <a:ext cx="6858000" cy="646785"/>
          </a:xfrm>
        </p:spPr>
        <p:txBody>
          <a:bodyPr>
            <a:normAutofit/>
          </a:bodyPr>
          <a:lstStyle/>
          <a:p>
            <a:r>
              <a:rPr lang="en-US"/>
              <a:t>Executive Summary and Key Insights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D9ED4716-11AE-1450-0B80-F0E1D2B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8028" y="1532408"/>
            <a:ext cx="1839836" cy="18398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832" y="1336390"/>
            <a:ext cx="4642809" cy="1182927"/>
          </a:xfrm>
        </p:spPr>
        <p:txBody>
          <a:bodyPr anchor="b">
            <a:normAutofit/>
          </a:bodyPr>
          <a:lstStyle/>
          <a:p>
            <a:r>
              <a:rPr lang="en-US" sz="4900"/>
              <a:t>Agenda</a:t>
            </a:r>
          </a:p>
        </p:txBody>
      </p:sp>
      <p:cxnSp>
        <p:nvCxnSpPr>
          <p:cNvPr id="49" name="!!Straight Connector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602832" y="2829330"/>
            <a:ext cx="4642809" cy="3344459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Project overview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Dataset summary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Customer behavior patterns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Key performance indicators (KPIs)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City &amp; cuisine insights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Time-based ordering trends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Customer segmentation ideas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Recommendations</a:t>
            </a:r>
          </a:p>
        </p:txBody>
      </p:sp>
      <p:pic>
        <p:nvPicPr>
          <p:cNvPr id="36" name="Picture 35" descr="Office building overlayed with stock market graphs">
            <a:extLst>
              <a:ext uri="{FF2B5EF4-FFF2-40B4-BE49-F238E27FC236}">
                <a16:creationId xmlns:a16="http://schemas.microsoft.com/office/drawing/2014/main" id="{EF285D40-A061-7EE8-FB60-10BC80106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83" r="4943" b="1"/>
          <a:stretch>
            <a:fillRect/>
          </a:stretch>
        </p:blipFill>
        <p:spPr>
          <a:xfrm>
            <a:off x="5588973" y="1665519"/>
            <a:ext cx="3200734" cy="4267645"/>
          </a:xfrm>
          <a:custGeom>
            <a:avLst/>
            <a:gdLst/>
            <a:ahLst/>
            <a:cxnLst/>
            <a:rect l="l" t="t" r="r" b="b"/>
            <a:pathLst>
              <a:path w="2457864" h="2457864">
                <a:moveTo>
                  <a:pt x="1228932" y="0"/>
                </a:moveTo>
                <a:cubicBezTo>
                  <a:pt x="1907652" y="0"/>
                  <a:pt x="2457864" y="550212"/>
                  <a:pt x="2457864" y="1228932"/>
                </a:cubicBezTo>
                <a:cubicBezTo>
                  <a:pt x="2457864" y="1907652"/>
                  <a:pt x="1907652" y="2457864"/>
                  <a:pt x="1228932" y="2457864"/>
                </a:cubicBezTo>
                <a:cubicBezTo>
                  <a:pt x="550212" y="2457864"/>
                  <a:pt x="0" y="1907652"/>
                  <a:pt x="0" y="1228932"/>
                </a:cubicBezTo>
                <a:cubicBezTo>
                  <a:pt x="0" y="550212"/>
                  <a:pt x="550212" y="0"/>
                  <a:pt x="1228932" y="0"/>
                </a:cubicBezTo>
                <a:close/>
              </a:path>
            </a:pathLst>
          </a:custGeom>
        </p:spPr>
      </p:pic>
      <p:sp>
        <p:nvSpPr>
          <p:cNvPr id="5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26960" y="1780012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!!circle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1192" y="2070656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979336"/>
            <a:ext cx="4282290" cy="24308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Objective: Analyze Zomato-like customer behavior and ordering patterns to uncover actionable insights.</a:t>
            </a:r>
          </a:p>
          <a:p>
            <a:pPr lvl="1"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Simulated transactional dataset of food delivery orders</a:t>
            </a:r>
          </a:p>
          <a:p>
            <a:pPr lvl="1"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Focus on customer activity, revenue, cuisines, and time patterns</a:t>
            </a:r>
          </a:p>
          <a:p>
            <a:pPr lvl="1"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Deliverables: Excel dashboard + this insight presentation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74461" cy="335347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High-level structure of the dataset used in the analysis: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Raw_Data: Order-level transactions (customer, city, cuisine, timestamps, amount, rating)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Clean_Data: Raw data plus derived fields (date parts, gross/net amounts, discounts)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Aggregated sheets: City_Summary, Cuisine_Summary, Hourly_Pattern, Weekly_Pattern, Monthly_Trend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Dashboard: KPI cards and charts built on the aggregated data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 descr="Office building overlayed with stock market graphs">
            <a:extLst>
              <a:ext uri="{FF2B5EF4-FFF2-40B4-BE49-F238E27FC236}">
                <a16:creationId xmlns:a16="http://schemas.microsoft.com/office/drawing/2014/main" id="{BE2AE4E3-FF9A-07CC-0F1F-A0BEB13F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1" r="6476"/>
          <a:stretch>
            <a:fillRect/>
          </a:stretch>
        </p:blipFill>
        <p:spPr>
          <a:xfrm>
            <a:off x="5873004" y="1700784"/>
            <a:ext cx="2923254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685800"/>
            <a:ext cx="3264837" cy="1474666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595959"/>
                </a:solidFill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447337"/>
            <a:ext cx="3264837" cy="377043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rgbClr val="595959"/>
                </a:solidFill>
              </a:rPr>
              <a:t>Core KPIs tracked on the Excel dashboard: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rgbClr val="595959"/>
                </a:solidFill>
              </a:rPr>
              <a:t>Total Orders: Overall demand across the analysis period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rgbClr val="595959"/>
                </a:solidFill>
              </a:rPr>
              <a:t>Total Revenue: Net order value after discounts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rgbClr val="595959"/>
                </a:solidFill>
              </a:rPr>
              <a:t>Average Order Value (AOV): Revenue per order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rgbClr val="595959"/>
                </a:solidFill>
              </a:rPr>
              <a:t>Unique Customers: Size of the active customer base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rgbClr val="595959"/>
                </a:solidFill>
              </a:rPr>
              <a:t>Repeat Customers: Customers with multiple orders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rgbClr val="595959"/>
                </a:solidFill>
              </a:rPr>
              <a:t>New Customer Share: % of customers ordering for the first time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F20C9510-BE7B-89F1-A329-1DD75A40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65" r="34285" b="-2"/>
          <a:stretch>
            <a:fillRect/>
          </a:stretch>
        </p:blipFill>
        <p:spPr>
          <a:xfrm>
            <a:off x="5086350" y="756416"/>
            <a:ext cx="3597792" cy="5390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City-Level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City_Summary highlights how demand and revenue vary by city:</a:t>
            </a:r>
          </a:p>
          <a:p>
            <a:pPr lvl="1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Identify top cities by total orders and revenue</a:t>
            </a:r>
          </a:p>
          <a:p>
            <a:pPr lvl="1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Compare cities on average order value and order frequency</a:t>
            </a:r>
          </a:p>
          <a:p>
            <a:pPr lvl="1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Spot potential high-growth but under-penetrated cities</a:t>
            </a:r>
          </a:p>
          <a:p>
            <a:pPr lvl="1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Use these insights to prioritize marketing and logistics investments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Cuisine Preferences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Cuisine_Summary reveals customer taste preferences: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Top cuisines by number of orders and revenue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Cuisines with higher-than-average order values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Potential to bundle or cross-sell complementary cuisines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Menu and restaurant-partner decisions can be guided by these patterns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5B9AB05-2A22-4BDA-B7D0-ECDC7B69F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685800"/>
            <a:ext cx="3779187" cy="1474666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Time-Based Ordering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447336"/>
            <a:ext cx="3779187" cy="372486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Hourly, weekly, and monthly patterns from the dashboard:</a:t>
            </a:r>
          </a:p>
          <a:p>
            <a:pPr lvl="1">
              <a:lnSpc>
                <a:spcPct val="90000"/>
              </a:lnSpc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Hourly_Pattern: Peak ordering hours (e.g., lunch vs. dinner spikes)</a:t>
            </a:r>
          </a:p>
          <a:p>
            <a:pPr lvl="1">
              <a:lnSpc>
                <a:spcPct val="90000"/>
              </a:lnSpc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Weekly_Pattern: Stronger demand on weekends vs weekdays</a:t>
            </a:r>
          </a:p>
          <a:p>
            <a:pPr lvl="1">
              <a:lnSpc>
                <a:spcPct val="90000"/>
              </a:lnSpc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Monthly_Trend: Any overall growth, seasonality, or campaign effects</a:t>
            </a:r>
          </a:p>
          <a:p>
            <a:pPr lvl="1">
              <a:lnSpc>
                <a:spcPct val="90000"/>
              </a:lnSpc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Use time patterns to optimize delivery capacity and promo timing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759409-BDF8-4BFD-9AF3-4B5C04C2A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6350" y="0"/>
            <a:ext cx="405765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avy technology 3D design">
            <a:extLst>
              <a:ext uri="{FF2B5EF4-FFF2-40B4-BE49-F238E27FC236}">
                <a16:creationId xmlns:a16="http://schemas.microsoft.com/office/drawing/2014/main" id="{EF082BB5-F06E-2BE9-8FD1-9DDAFF9B9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80" r="46756"/>
          <a:stretch>
            <a:fillRect/>
          </a:stretch>
        </p:blipFill>
        <p:spPr>
          <a:xfrm>
            <a:off x="5595801" y="685801"/>
            <a:ext cx="3088341" cy="54863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F2D09-250C-751E-A105-49B5CA4AB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0" r="32026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Customer Behavior &amp;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Behavioral segmentation ideas based on the dataset: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RFM (Recency, Frequency, Monetary) segmentation to distinguish loyal vs. at-risk customers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High-discount vs. full-price buyers based on discount share per customer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Cuisine loyalty segments (single-cuisine loyalists vs explorers)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Time-based segments (late-night users, weekend-heavy users, etc.)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3985"/>
            <a:ext cx="7329573" cy="6858000"/>
            <a:chOff x="1303402" y="3985"/>
            <a:chExt cx="9772765" cy="685800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5099" y="991261"/>
            <a:ext cx="4316022" cy="1837349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1965" y="2979336"/>
            <a:ext cx="4282291" cy="24308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Actions inspired by the insights and segments: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Double down on top-performing cities and cuisines with targeted campaigns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Design personalized offers for high-value and at-risk customers using RFM segments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Optimize delivery capacity in peak hours and high-demand areas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Experiment with cuisine bundles and cross-sell campaigns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Continuously monitor KPIs on the Excel dashboard to track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499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Zomato Customer Behavior &amp; Order Pattern Analysis</vt:lpstr>
      <vt:lpstr>Agenda</vt:lpstr>
      <vt:lpstr>Project Overview</vt:lpstr>
      <vt:lpstr>Dataset Summary</vt:lpstr>
      <vt:lpstr>Key Performance Indicators (KPIs)</vt:lpstr>
      <vt:lpstr>City-Level Insights</vt:lpstr>
      <vt:lpstr>Cuisine Preferences</vt:lpstr>
      <vt:lpstr>Time-Based Ordering Patterns</vt:lpstr>
      <vt:lpstr>Customer Behavior &amp; Segmentation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Vinayak Dighe</dc:creator>
  <cp:keywords/>
  <dc:description>generated using python-pptx</dc:description>
  <cp:lastModifiedBy>Vinayak Dighe</cp:lastModifiedBy>
  <cp:revision>3</cp:revision>
  <dcterms:created xsi:type="dcterms:W3CDTF">2013-01-27T09:14:16Z</dcterms:created>
  <dcterms:modified xsi:type="dcterms:W3CDTF">2025-12-14T16:05:25Z</dcterms:modified>
  <cp:category/>
</cp:coreProperties>
</file>